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9" r:id="rId5"/>
    <p:sldId id="260" r:id="rId6"/>
    <p:sldId id="265"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0EFBCD-5152-A364-1E0A-7311C778E760}" name="Dima, Robert" initials="RD" userId="S::robert.dima@ubc.ca::5b92dcba-492f-42cf-872a-7cb44781fbc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3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965960"/>
            <a:ext cx="11155680" cy="1200329"/>
          </a:xfrm>
          <a:prstGeom prst="rect">
            <a:avLst/>
          </a:prstGeom>
          <a:noFill/>
        </p:spPr>
        <p:txBody>
          <a:bodyPr wrap="square">
            <a:spAutoFit/>
          </a:bodyPr>
          <a:lstStyle/>
          <a:p>
            <a:r>
              <a:rPr lang="en-US" sz="3600" b="1" dirty="0">
                <a:solidFill>
                  <a:srgbClr val="FFFFFF"/>
                </a:solidFill>
                <a:latin typeface="Calibri"/>
              </a:rPr>
              <a:t>Leveraging</a:t>
            </a:r>
            <a:r>
              <a:rPr sz="3600" b="1" dirty="0">
                <a:solidFill>
                  <a:srgbClr val="FFFFFF"/>
                </a:solidFill>
                <a:latin typeface="Calibri"/>
              </a:rPr>
              <a:t> </a:t>
            </a:r>
            <a:r>
              <a:rPr sz="3600" b="1" dirty="0" err="1">
                <a:solidFill>
                  <a:srgbClr val="FFFFFF"/>
                </a:solidFill>
                <a:latin typeface="Calibri"/>
              </a:rPr>
              <a:t>MedQA</a:t>
            </a:r>
            <a:r>
              <a:rPr sz="3600" b="1" dirty="0">
                <a:solidFill>
                  <a:srgbClr val="FFFFFF"/>
                </a:solidFill>
                <a:latin typeface="Calibri"/>
              </a:rPr>
              <a:t> </a:t>
            </a:r>
            <a:r>
              <a:rPr lang="en-US" sz="3600" b="1" dirty="0">
                <a:solidFill>
                  <a:srgbClr val="FFFFFF"/>
                </a:solidFill>
                <a:latin typeface="Calibri"/>
              </a:rPr>
              <a:t>to develop</a:t>
            </a:r>
            <a:r>
              <a:rPr sz="3600" b="1" dirty="0">
                <a:solidFill>
                  <a:srgbClr val="FFFFFF"/>
                </a:solidFill>
                <a:latin typeface="Calibri"/>
              </a:rPr>
              <a:t> </a:t>
            </a:r>
            <a:r>
              <a:rPr lang="en-US" sz="3600" b="1" dirty="0">
                <a:solidFill>
                  <a:srgbClr val="FFFFFF"/>
                </a:solidFill>
                <a:latin typeface="Calibri"/>
              </a:rPr>
              <a:t>a </a:t>
            </a:r>
            <a:r>
              <a:rPr sz="3600" b="1" dirty="0">
                <a:solidFill>
                  <a:srgbClr val="FFFFFF"/>
                </a:solidFill>
                <a:latin typeface="Calibri"/>
              </a:rPr>
              <a:t>grounded
low-back-pain patient agent</a:t>
            </a:r>
          </a:p>
        </p:txBody>
      </p:sp>
      <p:sp>
        <p:nvSpPr>
          <p:cNvPr id="9" name="TextBox 8"/>
          <p:cNvSpPr txBox="1"/>
          <p:nvPr/>
        </p:nvSpPr>
        <p:spPr>
          <a:xfrm>
            <a:off x="11256762" y="6510528"/>
            <a:ext cx="447558" cy="261610"/>
          </a:xfrm>
          <a:prstGeom prst="rect">
            <a:avLst/>
          </a:prstGeom>
          <a:noFill/>
        </p:spPr>
        <p:txBody>
          <a:bodyPr wrap="none">
            <a:spAutoFit/>
          </a:bodyPr>
          <a:lstStyle/>
          <a:p>
            <a:pPr algn="r"/>
            <a:r>
              <a:rPr sz="1100" b="0" dirty="0">
                <a:solidFill>
                  <a:srgbClr val="C8CDD6"/>
                </a:solidFill>
                <a:latin typeface="Calibri"/>
              </a:rPr>
              <a:t>1 / </a:t>
            </a:r>
            <a:r>
              <a:rPr lang="en-US" sz="1100" b="0" dirty="0">
                <a:solidFill>
                  <a:srgbClr val="C8CDD6"/>
                </a:solidFill>
                <a:latin typeface="Calibri"/>
              </a:rPr>
              <a:t>7</a:t>
            </a:r>
            <a:endParaRPr sz="1100" b="0" dirty="0">
              <a:solidFill>
                <a:srgbClr val="C8CDD6"/>
              </a:solidFill>
              <a:latin typeface="Calibri"/>
            </a:endParaRPr>
          </a:p>
        </p:txBody>
      </p:sp>
      <p:sp>
        <p:nvSpPr>
          <p:cNvPr id="10" name="TextBox 9">
            <a:extLst>
              <a:ext uri="{FF2B5EF4-FFF2-40B4-BE49-F238E27FC236}">
                <a16:creationId xmlns:a16="http://schemas.microsoft.com/office/drawing/2014/main" id="{9BE1F8F9-DC6A-D8B1-D895-EA447AD9AD11}"/>
              </a:ext>
            </a:extLst>
          </p:cNvPr>
          <p:cNvSpPr txBox="1"/>
          <p:nvPr/>
        </p:nvSpPr>
        <p:spPr>
          <a:xfrm>
            <a:off x="618186" y="3586766"/>
            <a:ext cx="9388699" cy="1200329"/>
          </a:xfrm>
          <a:prstGeom prst="rect">
            <a:avLst/>
          </a:prstGeom>
          <a:noFill/>
        </p:spPr>
        <p:txBody>
          <a:bodyPr wrap="square" rtlCol="0">
            <a:spAutoFit/>
          </a:bodyPr>
          <a:lstStyle/>
          <a:p>
            <a:r>
              <a:rPr lang="en-US" dirty="0">
                <a:solidFill>
                  <a:schemeClr val="bg1"/>
                </a:solidFill>
              </a:rPr>
              <a:t>Methodology and protocol</a:t>
            </a:r>
          </a:p>
          <a:p>
            <a:endParaRPr lang="en-US" dirty="0">
              <a:solidFill>
                <a:schemeClr val="bg1"/>
              </a:solidFill>
            </a:endParaRPr>
          </a:p>
          <a:p>
            <a:r>
              <a:rPr lang="en-US" dirty="0">
                <a:solidFill>
                  <a:schemeClr val="bg1"/>
                </a:solidFill>
              </a:rPr>
              <a:t>2026.8.28</a:t>
            </a:r>
          </a:p>
          <a:p>
            <a:r>
              <a:rPr lang="en-US" dirty="0">
                <a:solidFill>
                  <a:schemeClr val="bg1"/>
                </a:solidFill>
              </a:rPr>
              <a:t>Robert Dima</a:t>
            </a:r>
            <a:endParaRPr lang="en-CA"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
            <a:ext cx="11247120" cy="492443"/>
          </a:xfrm>
          <a:prstGeom prst="rect">
            <a:avLst/>
          </a:prstGeom>
          <a:noFill/>
        </p:spPr>
        <p:txBody>
          <a:bodyPr wrap="square">
            <a:spAutoFit/>
          </a:bodyPr>
          <a:lstStyle/>
          <a:p>
            <a:r>
              <a:rPr lang="en-US" sz="2600" b="1" dirty="0">
                <a:solidFill>
                  <a:srgbClr val="FFFFFF"/>
                </a:solidFill>
                <a:latin typeface="Calibri"/>
              </a:rPr>
              <a:t>Building </a:t>
            </a:r>
            <a:r>
              <a:rPr lang="en-US" sz="2600" b="1" dirty="0" err="1">
                <a:solidFill>
                  <a:srgbClr val="FFFFFF"/>
                </a:solidFill>
                <a:latin typeface="Calibri"/>
              </a:rPr>
              <a:t>patient_agent</a:t>
            </a:r>
            <a:r>
              <a:rPr lang="en-US" sz="2600" b="1" dirty="0">
                <a:solidFill>
                  <a:srgbClr val="FFFFFF"/>
                </a:solidFill>
                <a:latin typeface="Calibri"/>
              </a:rPr>
              <a:t> from </a:t>
            </a:r>
            <a:r>
              <a:rPr lang="en-US" sz="2600" b="1" dirty="0" err="1">
                <a:solidFill>
                  <a:srgbClr val="FFFFFF"/>
                </a:solidFill>
                <a:latin typeface="Calibri"/>
              </a:rPr>
              <a:t>MedQA</a:t>
            </a:r>
            <a:r>
              <a:rPr lang="en-US" sz="2600" b="1" dirty="0">
                <a:solidFill>
                  <a:srgbClr val="FFFFFF"/>
                </a:solidFill>
                <a:latin typeface="Calibri"/>
              </a:rPr>
              <a:t> vignettes</a:t>
            </a:r>
            <a:endParaRPr sz="2600" b="1" dirty="0">
              <a:solidFill>
                <a:srgbClr val="FFFFFF"/>
              </a:solidFill>
              <a:latin typeface="Calibri"/>
            </a:endParaRPr>
          </a:p>
        </p:txBody>
      </p:sp>
      <p:sp>
        <p:nvSpPr>
          <p:cNvPr id="5" name="Rectangle 4"/>
          <p:cNvSpPr/>
          <p:nvPr/>
        </p:nvSpPr>
        <p:spPr>
          <a:xfrm>
            <a:off x="457200" y="749808"/>
            <a:ext cx="2011680" cy="36576"/>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60120"/>
            <a:ext cx="11247120" cy="5406608"/>
          </a:xfrm>
          <a:prstGeom prst="rect">
            <a:avLst/>
          </a:prstGeom>
          <a:noFill/>
        </p:spPr>
        <p:txBody>
          <a:bodyPr wrap="square">
            <a:spAutoFit/>
          </a:bodyPr>
          <a:lstStyle/>
          <a:p>
            <a:pPr marL="285750" indent="-285750">
              <a:spcAft>
                <a:spcPts val="800"/>
              </a:spcAft>
              <a:buFont typeface="Arial" panose="020B0604020202020204" pitchFamily="34" charset="0"/>
              <a:buChar char="•"/>
            </a:pPr>
            <a:r>
              <a:rPr lang="en-US" sz="1700" b="0" dirty="0">
                <a:solidFill>
                  <a:srgbClr val="FFFFFF"/>
                </a:solidFill>
                <a:latin typeface="Calibri"/>
              </a:rPr>
              <a:t>Our aim is to generate at least 12 </a:t>
            </a:r>
            <a:r>
              <a:rPr sz="1700" b="0" dirty="0">
                <a:solidFill>
                  <a:srgbClr val="FFFFFF"/>
                </a:solidFill>
                <a:latin typeface="Calibri"/>
              </a:rPr>
              <a:t>frozen transcripts of </a:t>
            </a:r>
            <a:r>
              <a:rPr sz="1700" b="0" dirty="0" err="1">
                <a:solidFill>
                  <a:srgbClr val="FFFFFF"/>
                </a:solidFill>
                <a:latin typeface="Calibri"/>
              </a:rPr>
              <a:t>DigiMSKbot</a:t>
            </a:r>
            <a:r>
              <a:rPr sz="1700" b="0" dirty="0">
                <a:solidFill>
                  <a:srgbClr val="FFFFFF"/>
                </a:solidFill>
                <a:latin typeface="Calibri"/>
              </a:rPr>
              <a:t> talking to a realistic </a:t>
            </a:r>
            <a:r>
              <a:rPr lang="en-US" sz="1700" b="0" dirty="0">
                <a:solidFill>
                  <a:srgbClr val="FFFFFF"/>
                </a:solidFill>
                <a:latin typeface="Calibri"/>
              </a:rPr>
              <a:t>patient user.</a:t>
            </a:r>
            <a:endParaRPr sz="1700" b="0" dirty="0">
              <a:solidFill>
                <a:srgbClr val="FFFFFF"/>
              </a:solidFill>
              <a:latin typeface="Calibri"/>
            </a:endParaRPr>
          </a:p>
          <a:p>
            <a:pPr marL="285750" indent="-285750">
              <a:spcAft>
                <a:spcPts val="800"/>
              </a:spcAft>
              <a:buFont typeface="Arial" panose="020B0604020202020204" pitchFamily="34" charset="0"/>
              <a:buChar char="•"/>
            </a:pPr>
            <a:r>
              <a:rPr lang="en-US" sz="1700" b="0" dirty="0">
                <a:solidFill>
                  <a:srgbClr val="FFFFFF"/>
                </a:solidFill>
                <a:latin typeface="Calibri"/>
              </a:rPr>
              <a:t>Methods in the literature involve sampling open-source datasets for gold-standard medical case questions, and system-prompting an LLM to act like a human under the conditions specified in the case. There is a lack of publicly-available </a:t>
            </a:r>
            <a:r>
              <a:rPr lang="en-US" sz="1700" b="0" u="sng" dirty="0">
                <a:solidFill>
                  <a:srgbClr val="FFFFFF"/>
                </a:solidFill>
                <a:latin typeface="Calibri"/>
              </a:rPr>
              <a:t>human dialogue</a:t>
            </a:r>
            <a:r>
              <a:rPr lang="en-US" sz="1700" b="0" dirty="0">
                <a:solidFill>
                  <a:srgbClr val="FFFFFF"/>
                </a:solidFill>
                <a:latin typeface="Calibri"/>
              </a:rPr>
              <a:t> datasets in medical contexts for fine-tuning an LLM with a patient persona. </a:t>
            </a:r>
          </a:p>
          <a:p>
            <a:pPr marL="285750" indent="-285750">
              <a:spcAft>
                <a:spcPts val="800"/>
              </a:spcAft>
              <a:buFont typeface="Arial" panose="020B0604020202020204" pitchFamily="34" charset="0"/>
              <a:buChar char="•"/>
            </a:pPr>
            <a:endParaRPr lang="en-US" sz="1700" dirty="0">
              <a:solidFill>
                <a:srgbClr val="FFFFFF"/>
              </a:solidFill>
              <a:latin typeface="Calibri"/>
            </a:endParaRPr>
          </a:p>
          <a:p>
            <a:pPr marL="285750" indent="-285750">
              <a:spcAft>
                <a:spcPts val="800"/>
              </a:spcAft>
              <a:buFont typeface="Arial" panose="020B0604020202020204" pitchFamily="34" charset="0"/>
              <a:buChar char="•"/>
            </a:pPr>
            <a:endParaRPr lang="en-US" sz="1700" b="0" dirty="0">
              <a:solidFill>
                <a:srgbClr val="FFFFFF"/>
              </a:solidFill>
              <a:latin typeface="Calibri"/>
            </a:endParaRPr>
          </a:p>
          <a:p>
            <a:pPr marL="285750" indent="-285750">
              <a:spcAft>
                <a:spcPts val="800"/>
              </a:spcAft>
              <a:buFont typeface="Arial" panose="020B0604020202020204" pitchFamily="34" charset="0"/>
              <a:buChar char="•"/>
            </a:pPr>
            <a:endParaRPr lang="en-US" sz="1700" dirty="0">
              <a:solidFill>
                <a:srgbClr val="FFFFFF"/>
              </a:solidFill>
              <a:latin typeface="Calibri"/>
            </a:endParaRPr>
          </a:p>
          <a:p>
            <a:pPr marL="285750" indent="-285750">
              <a:spcAft>
                <a:spcPts val="800"/>
              </a:spcAft>
              <a:buFont typeface="Arial" panose="020B0604020202020204" pitchFamily="34" charset="0"/>
              <a:buChar char="•"/>
            </a:pPr>
            <a:endParaRPr lang="en-US" sz="1700" b="0" dirty="0">
              <a:solidFill>
                <a:srgbClr val="FFFFFF"/>
              </a:solidFill>
              <a:latin typeface="Calibri"/>
            </a:endParaRPr>
          </a:p>
          <a:p>
            <a:pPr>
              <a:spcAft>
                <a:spcPts val="800"/>
              </a:spcAft>
            </a:pPr>
            <a:endParaRPr lang="en-US" sz="1700" dirty="0">
              <a:solidFill>
                <a:srgbClr val="FFFFFF"/>
              </a:solidFill>
              <a:latin typeface="Calibri"/>
            </a:endParaRPr>
          </a:p>
          <a:p>
            <a:pPr>
              <a:spcAft>
                <a:spcPts val="800"/>
              </a:spcAft>
            </a:pPr>
            <a:endParaRPr sz="1700" b="0" dirty="0">
              <a:solidFill>
                <a:srgbClr val="FFFFFF"/>
              </a:solidFill>
              <a:latin typeface="Calibri"/>
            </a:endParaRPr>
          </a:p>
          <a:p>
            <a:pPr marL="285750" indent="-285750">
              <a:spcAft>
                <a:spcPts val="800"/>
              </a:spcAft>
              <a:buFont typeface="Arial" panose="020B0604020202020204" pitchFamily="34" charset="0"/>
              <a:buChar char="•"/>
            </a:pPr>
            <a:r>
              <a:rPr lang="en-US" sz="1700" b="0" dirty="0">
                <a:solidFill>
                  <a:srgbClr val="FFFFFF"/>
                </a:solidFill>
                <a:latin typeface="Calibri"/>
              </a:rPr>
              <a:t>Our hybrid approach is to </a:t>
            </a:r>
            <a:r>
              <a:rPr sz="1700" b="0" dirty="0">
                <a:solidFill>
                  <a:srgbClr val="FFFFFF"/>
                </a:solidFill>
                <a:latin typeface="Calibri"/>
              </a:rPr>
              <a:t>sample</a:t>
            </a:r>
            <a:r>
              <a:rPr lang="en-US" sz="1700" b="0" dirty="0">
                <a:solidFill>
                  <a:srgbClr val="FFFFFF"/>
                </a:solidFill>
                <a:latin typeface="Calibri"/>
              </a:rPr>
              <a:t> domain-specific questions (LBP)</a:t>
            </a:r>
            <a:r>
              <a:rPr sz="1700" b="0" dirty="0">
                <a:solidFill>
                  <a:srgbClr val="FFFFFF"/>
                </a:solidFill>
                <a:latin typeface="Calibri"/>
              </a:rPr>
              <a:t> from </a:t>
            </a:r>
            <a:r>
              <a:rPr sz="1700" b="0" dirty="0" err="1">
                <a:solidFill>
                  <a:srgbClr val="FFFFFF"/>
                </a:solidFill>
                <a:latin typeface="Calibri"/>
              </a:rPr>
              <a:t>MedQA</a:t>
            </a:r>
            <a:r>
              <a:rPr sz="1700" b="0" dirty="0">
                <a:solidFill>
                  <a:srgbClr val="FFFFFF"/>
                </a:solidFill>
                <a:latin typeface="Calibri"/>
              </a:rPr>
              <a:t>, </a:t>
            </a:r>
            <a:r>
              <a:rPr lang="en-US" sz="1700" b="0" dirty="0">
                <a:solidFill>
                  <a:srgbClr val="FFFFFF"/>
                </a:solidFill>
                <a:latin typeface="Calibri"/>
              </a:rPr>
              <a:t>convert the vignette questions in </a:t>
            </a:r>
            <a:r>
              <a:rPr sz="1700" b="0" dirty="0">
                <a:solidFill>
                  <a:srgbClr val="FFFFFF"/>
                </a:solidFill>
                <a:latin typeface="Calibri"/>
              </a:rPr>
              <a:t>OSCE-</a:t>
            </a:r>
            <a:r>
              <a:rPr lang="en-US" sz="1700" b="0" dirty="0">
                <a:solidFill>
                  <a:srgbClr val="FFFFFF"/>
                </a:solidFill>
                <a:latin typeface="Calibri"/>
              </a:rPr>
              <a:t>style machine-readable artefacts, constrain the person with system prompting, and lock the vignettes for study use only after manual human verification.</a:t>
            </a:r>
          </a:p>
          <a:p>
            <a:pPr marL="285750" indent="-285750">
              <a:spcAft>
                <a:spcPts val="800"/>
              </a:spcAft>
              <a:buFont typeface="Arial" panose="020B0604020202020204" pitchFamily="34" charset="0"/>
              <a:buChar char="•"/>
            </a:pPr>
            <a:r>
              <a:rPr lang="en-US" sz="1700" b="0" dirty="0">
                <a:solidFill>
                  <a:srgbClr val="FFFFFF"/>
                </a:solidFill>
                <a:latin typeface="Calibri"/>
              </a:rPr>
              <a:t>Outputs: </a:t>
            </a:r>
          </a:p>
          <a:p>
            <a:pPr marL="742950" lvl="1" indent="-285750">
              <a:spcAft>
                <a:spcPts val="800"/>
              </a:spcAft>
              <a:buFont typeface="Arial" panose="020B0604020202020204" pitchFamily="34" charset="0"/>
              <a:buChar char="•"/>
            </a:pPr>
            <a:r>
              <a:rPr lang="en-US" sz="1700" b="0" dirty="0">
                <a:solidFill>
                  <a:srgbClr val="FFFFFF"/>
                </a:solidFill>
                <a:latin typeface="Calibri"/>
              </a:rPr>
              <a:t>12 human-checked, </a:t>
            </a:r>
            <a:r>
              <a:rPr lang="en-US" sz="1700" b="0" dirty="0" err="1">
                <a:solidFill>
                  <a:srgbClr val="FFFFFF"/>
                </a:solidFill>
                <a:latin typeface="Calibri"/>
              </a:rPr>
              <a:t>MedQA</a:t>
            </a:r>
            <a:r>
              <a:rPr lang="en-US" sz="1700" b="0" dirty="0">
                <a:solidFill>
                  <a:srgbClr val="FFFFFF"/>
                </a:solidFill>
                <a:latin typeface="Calibri"/>
              </a:rPr>
              <a:t>-derived frozen transcripts for survey validation study</a:t>
            </a:r>
          </a:p>
          <a:p>
            <a:pPr marL="742950" lvl="1" indent="-285750">
              <a:spcAft>
                <a:spcPts val="800"/>
              </a:spcAft>
              <a:buFont typeface="Arial" panose="020B0604020202020204" pitchFamily="34" charset="0"/>
              <a:buChar char="•"/>
            </a:pPr>
            <a:r>
              <a:rPr lang="en-US" sz="1700" dirty="0" err="1">
                <a:solidFill>
                  <a:srgbClr val="FFFFFF"/>
                </a:solidFill>
                <a:latin typeface="Calibri"/>
              </a:rPr>
              <a:t>patient_agent</a:t>
            </a:r>
            <a:r>
              <a:rPr lang="en-US" sz="1700" dirty="0">
                <a:solidFill>
                  <a:srgbClr val="FFFFFF"/>
                </a:solidFill>
                <a:latin typeface="Calibri"/>
              </a:rPr>
              <a:t> harness and case card dataset for use in testing framework for </a:t>
            </a:r>
            <a:r>
              <a:rPr lang="en-US" sz="1700" dirty="0" err="1">
                <a:solidFill>
                  <a:srgbClr val="FFFFFF"/>
                </a:solidFill>
                <a:latin typeface="Calibri"/>
              </a:rPr>
              <a:t>DigiMSKbot</a:t>
            </a:r>
            <a:endParaRPr sz="1700" b="0" dirty="0">
              <a:solidFill>
                <a:srgbClr val="FFFFFF"/>
              </a:solidFill>
              <a:latin typeface="Calibri"/>
            </a:endParaRPr>
          </a:p>
        </p:txBody>
      </p:sp>
      <p:sp>
        <p:nvSpPr>
          <p:cNvPr id="8" name="TextBox 7"/>
          <p:cNvSpPr txBox="1"/>
          <p:nvPr/>
        </p:nvSpPr>
        <p:spPr>
          <a:xfrm>
            <a:off x="11256762" y="6510528"/>
            <a:ext cx="447558" cy="261610"/>
          </a:xfrm>
          <a:prstGeom prst="rect">
            <a:avLst/>
          </a:prstGeom>
          <a:noFill/>
        </p:spPr>
        <p:txBody>
          <a:bodyPr wrap="none">
            <a:spAutoFit/>
          </a:bodyPr>
          <a:lstStyle/>
          <a:p>
            <a:pPr algn="r"/>
            <a:r>
              <a:rPr sz="1100" b="0" dirty="0">
                <a:solidFill>
                  <a:srgbClr val="C8CDD6"/>
                </a:solidFill>
                <a:latin typeface="Calibri"/>
              </a:rPr>
              <a:t>2 / </a:t>
            </a:r>
            <a:r>
              <a:rPr lang="en-US" sz="1100" b="0" dirty="0">
                <a:solidFill>
                  <a:srgbClr val="C8CDD6"/>
                </a:solidFill>
                <a:latin typeface="Calibri"/>
              </a:rPr>
              <a:t>7</a:t>
            </a:r>
            <a:endParaRPr sz="1100" b="0" dirty="0">
              <a:solidFill>
                <a:srgbClr val="C8CDD6"/>
              </a:solidFill>
              <a:latin typeface="Calibri"/>
            </a:endParaRPr>
          </a:p>
        </p:txBody>
      </p:sp>
      <p:sp>
        <p:nvSpPr>
          <p:cNvPr id="10" name="Rounded Rectangle 7">
            <a:extLst>
              <a:ext uri="{FF2B5EF4-FFF2-40B4-BE49-F238E27FC236}">
                <a16:creationId xmlns:a16="http://schemas.microsoft.com/office/drawing/2014/main" id="{C541B30C-4FDD-17AC-3504-994163B53ACA}"/>
              </a:ext>
            </a:extLst>
          </p:cNvPr>
          <p:cNvSpPr/>
          <p:nvPr/>
        </p:nvSpPr>
        <p:spPr>
          <a:xfrm>
            <a:off x="864032" y="2423160"/>
            <a:ext cx="4824984" cy="173736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7">
            <a:extLst>
              <a:ext uri="{FF2B5EF4-FFF2-40B4-BE49-F238E27FC236}">
                <a16:creationId xmlns:a16="http://schemas.microsoft.com/office/drawing/2014/main" id="{3A466407-EAFB-709C-A22F-A298A304293A}"/>
              </a:ext>
            </a:extLst>
          </p:cNvPr>
          <p:cNvSpPr/>
          <p:nvPr/>
        </p:nvSpPr>
        <p:spPr>
          <a:xfrm>
            <a:off x="6095847" y="2423160"/>
            <a:ext cx="4824984" cy="173736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4CD7BEC-2CEC-9190-501F-D4C3031D56A6}"/>
              </a:ext>
            </a:extLst>
          </p:cNvPr>
          <p:cNvSpPr txBox="1"/>
          <p:nvPr/>
        </p:nvSpPr>
        <p:spPr>
          <a:xfrm>
            <a:off x="6332067" y="2574213"/>
            <a:ext cx="4352544" cy="995144"/>
          </a:xfrm>
          <a:prstGeom prst="rect">
            <a:avLst/>
          </a:prstGeom>
          <a:noFill/>
        </p:spPr>
        <p:txBody>
          <a:bodyPr wrap="square">
            <a:spAutoFit/>
          </a:bodyPr>
          <a:lstStyle/>
          <a:p>
            <a:r>
              <a:rPr sz="1300" b="1" dirty="0">
                <a:solidFill>
                  <a:srgbClr val="4A9EFF"/>
                </a:solidFill>
                <a:latin typeface="Calibri"/>
              </a:rPr>
              <a:t>From CRAFT-MD (Johri et al., 2025)</a:t>
            </a:r>
          </a:p>
          <a:p>
            <a:pPr>
              <a:spcBef>
                <a:spcPts val="400"/>
              </a:spcBef>
            </a:pPr>
            <a:r>
              <a:rPr lang="en-US" sz="1300" b="0" dirty="0">
                <a:solidFill>
                  <a:srgbClr val="FFFFFF"/>
                </a:solidFill>
                <a:latin typeface="Calibri"/>
              </a:rPr>
              <a:t>Primarily used system prompting to maintain </a:t>
            </a:r>
            <a:r>
              <a:rPr lang="en-US" sz="1300" dirty="0">
                <a:solidFill>
                  <a:srgbClr val="FFFFFF"/>
                </a:solidFill>
                <a:latin typeface="Calibri"/>
              </a:rPr>
              <a:t>patient persona.</a:t>
            </a:r>
          </a:p>
          <a:p>
            <a:pPr>
              <a:spcBef>
                <a:spcPts val="400"/>
              </a:spcBef>
            </a:pPr>
            <a:r>
              <a:rPr lang="en-US" sz="1300" b="0" dirty="0">
                <a:solidFill>
                  <a:srgbClr val="FFFFFF"/>
                </a:solidFill>
                <a:latin typeface="Calibri"/>
              </a:rPr>
              <a:t>“</a:t>
            </a:r>
            <a:r>
              <a:rPr sz="1300" b="0" dirty="0">
                <a:solidFill>
                  <a:srgbClr val="FFFFFF"/>
                </a:solidFill>
                <a:latin typeface="Calibri"/>
              </a:rPr>
              <a:t>Do not dump the vignette. Do not invent symptoms. Answer only what was asked. </a:t>
            </a:r>
            <a:r>
              <a:rPr lang="en-US" sz="1300" b="0" dirty="0">
                <a:solidFill>
                  <a:srgbClr val="FFFFFF"/>
                </a:solidFill>
                <a:latin typeface="Calibri"/>
              </a:rPr>
              <a:t>Use l</a:t>
            </a:r>
            <a:r>
              <a:rPr sz="1300" b="0" dirty="0">
                <a:solidFill>
                  <a:srgbClr val="FFFFFF"/>
                </a:solidFill>
                <a:latin typeface="Calibri"/>
              </a:rPr>
              <a:t>ay language. Stay in character.</a:t>
            </a:r>
            <a:r>
              <a:rPr lang="en-US" sz="1300" b="0" dirty="0">
                <a:solidFill>
                  <a:srgbClr val="FFFFFF"/>
                </a:solidFill>
                <a:latin typeface="Calibri"/>
              </a:rPr>
              <a:t>"</a:t>
            </a:r>
            <a:endParaRPr sz="1300" b="0" dirty="0">
              <a:solidFill>
                <a:srgbClr val="FFFFFF"/>
              </a:solidFill>
              <a:latin typeface="Calibri"/>
            </a:endParaRPr>
          </a:p>
        </p:txBody>
      </p:sp>
      <p:sp>
        <p:nvSpPr>
          <p:cNvPr id="16" name="TextBox 15">
            <a:extLst>
              <a:ext uri="{FF2B5EF4-FFF2-40B4-BE49-F238E27FC236}">
                <a16:creationId xmlns:a16="http://schemas.microsoft.com/office/drawing/2014/main" id="{54436AF1-39B7-451F-8AE8-5B413E598435}"/>
              </a:ext>
            </a:extLst>
          </p:cNvPr>
          <p:cNvSpPr txBox="1"/>
          <p:nvPr/>
        </p:nvSpPr>
        <p:spPr>
          <a:xfrm>
            <a:off x="1012011" y="2568565"/>
            <a:ext cx="4596461" cy="1497846"/>
          </a:xfrm>
          <a:prstGeom prst="rect">
            <a:avLst/>
          </a:prstGeom>
          <a:noFill/>
        </p:spPr>
        <p:txBody>
          <a:bodyPr wrap="square">
            <a:spAutoFit/>
          </a:bodyPr>
          <a:lstStyle/>
          <a:p>
            <a:r>
              <a:rPr sz="1300" b="1" dirty="0">
                <a:solidFill>
                  <a:srgbClr val="4A9EFF"/>
                </a:solidFill>
                <a:latin typeface="Calibri"/>
              </a:rPr>
              <a:t>From </a:t>
            </a:r>
            <a:r>
              <a:rPr sz="1300" b="1" dirty="0" err="1">
                <a:solidFill>
                  <a:srgbClr val="4A9EFF"/>
                </a:solidFill>
                <a:latin typeface="Calibri"/>
              </a:rPr>
              <a:t>AgentClinic</a:t>
            </a:r>
            <a:r>
              <a:rPr sz="1300" b="1" dirty="0">
                <a:solidFill>
                  <a:srgbClr val="4A9EFF"/>
                </a:solidFill>
                <a:latin typeface="Calibri"/>
              </a:rPr>
              <a:t> (Schmidgall et al., 2026)</a:t>
            </a:r>
          </a:p>
          <a:p>
            <a:pPr>
              <a:spcBef>
                <a:spcPts val="400"/>
              </a:spcBef>
            </a:pPr>
            <a:r>
              <a:rPr lang="en-US" sz="1300" b="0" dirty="0">
                <a:solidFill>
                  <a:srgbClr val="FFFFFF"/>
                </a:solidFill>
                <a:latin typeface="Calibri"/>
              </a:rPr>
              <a:t>1) </a:t>
            </a:r>
            <a:r>
              <a:rPr sz="1300" b="0" dirty="0">
                <a:solidFill>
                  <a:srgbClr val="FFFFFF"/>
                </a:solidFill>
                <a:latin typeface="Calibri"/>
              </a:rPr>
              <a:t>Sample</a:t>
            </a:r>
            <a:r>
              <a:rPr lang="en-US" sz="1300" b="0" dirty="0">
                <a:solidFill>
                  <a:srgbClr val="FFFFFF"/>
                </a:solidFill>
                <a:latin typeface="Calibri"/>
              </a:rPr>
              <a:t>d</a:t>
            </a:r>
            <a:r>
              <a:rPr sz="1300" b="0" dirty="0">
                <a:solidFill>
                  <a:srgbClr val="FFFFFF"/>
                </a:solidFill>
                <a:latin typeface="Calibri"/>
              </a:rPr>
              <a:t> diagnostic questions</a:t>
            </a:r>
            <a:r>
              <a:rPr lang="en-US" sz="1300" b="0" dirty="0">
                <a:solidFill>
                  <a:srgbClr val="FFFFFF"/>
                </a:solidFill>
                <a:latin typeface="Calibri"/>
              </a:rPr>
              <a:t> from publicly-available datasets</a:t>
            </a:r>
            <a:r>
              <a:rPr sz="1300" b="0" dirty="0">
                <a:solidFill>
                  <a:srgbClr val="FFFFFF"/>
                </a:solidFill>
                <a:latin typeface="Calibri"/>
              </a:rPr>
              <a:t> </a:t>
            </a:r>
            <a:endParaRPr lang="en-US" sz="1300" b="0" dirty="0">
              <a:solidFill>
                <a:srgbClr val="FFFFFF"/>
              </a:solidFill>
              <a:latin typeface="Calibri"/>
            </a:endParaRPr>
          </a:p>
          <a:p>
            <a:pPr>
              <a:spcBef>
                <a:spcPts val="400"/>
              </a:spcBef>
            </a:pPr>
            <a:r>
              <a:rPr lang="en-US" sz="1300" b="0" dirty="0">
                <a:solidFill>
                  <a:srgbClr val="FFFFFF"/>
                </a:solidFill>
                <a:latin typeface="Calibri"/>
              </a:rPr>
              <a:t>2) Converted those to</a:t>
            </a:r>
            <a:r>
              <a:rPr sz="1300" b="0" dirty="0">
                <a:solidFill>
                  <a:srgbClr val="FFFFFF"/>
                </a:solidFill>
                <a:latin typeface="Calibri"/>
              </a:rPr>
              <a:t> an OSCE</a:t>
            </a:r>
            <a:r>
              <a:rPr lang="en-US" sz="1300" b="0" dirty="0">
                <a:solidFill>
                  <a:srgbClr val="FFFFFF"/>
                </a:solidFill>
                <a:latin typeface="Calibri"/>
              </a:rPr>
              <a:t>-style</a:t>
            </a:r>
            <a:r>
              <a:rPr sz="1300" b="0" dirty="0">
                <a:solidFill>
                  <a:srgbClr val="FFFFFF"/>
                </a:solidFill>
                <a:latin typeface="Calibri"/>
              </a:rPr>
              <a:t> JSON</a:t>
            </a:r>
            <a:r>
              <a:rPr lang="en-US" sz="1300" b="0" dirty="0">
                <a:solidFill>
                  <a:srgbClr val="FFFFFF"/>
                </a:solidFill>
                <a:latin typeface="Calibri"/>
              </a:rPr>
              <a:t> case artefact</a:t>
            </a:r>
            <a:r>
              <a:rPr sz="1300" b="0" dirty="0">
                <a:solidFill>
                  <a:srgbClr val="FFFFFF"/>
                </a:solidFill>
                <a:latin typeface="Calibri"/>
              </a:rPr>
              <a:t> </a:t>
            </a:r>
            <a:endParaRPr lang="en-US" sz="1300" b="0" dirty="0">
              <a:solidFill>
                <a:srgbClr val="FFFFFF"/>
              </a:solidFill>
              <a:latin typeface="Calibri"/>
            </a:endParaRPr>
          </a:p>
          <a:p>
            <a:pPr>
              <a:spcBef>
                <a:spcPts val="400"/>
              </a:spcBef>
            </a:pPr>
            <a:r>
              <a:rPr lang="en-US" sz="1300" dirty="0">
                <a:solidFill>
                  <a:srgbClr val="FFFFFF"/>
                </a:solidFill>
                <a:latin typeface="Calibri"/>
              </a:rPr>
              <a:t>3) </a:t>
            </a:r>
            <a:r>
              <a:rPr lang="en-US" sz="1300" b="0" dirty="0">
                <a:solidFill>
                  <a:srgbClr val="FFFFFF"/>
                </a:solidFill>
                <a:latin typeface="Calibri"/>
              </a:rPr>
              <a:t>Validated the OSCE cards with h</a:t>
            </a:r>
            <a:r>
              <a:rPr sz="1300" b="0" dirty="0">
                <a:solidFill>
                  <a:srgbClr val="FFFFFF"/>
                </a:solidFill>
                <a:latin typeface="Calibri"/>
              </a:rPr>
              <a:t>uman</a:t>
            </a:r>
            <a:r>
              <a:rPr lang="en-US" sz="1300" b="0" dirty="0">
                <a:solidFill>
                  <a:srgbClr val="FFFFFF"/>
                </a:solidFill>
                <a:latin typeface="Calibri"/>
              </a:rPr>
              <a:t>s</a:t>
            </a:r>
            <a:r>
              <a:rPr sz="1300" b="0" dirty="0">
                <a:solidFill>
                  <a:srgbClr val="FFFFFF"/>
                </a:solidFill>
                <a:latin typeface="Calibri"/>
              </a:rPr>
              <a:t> </a:t>
            </a:r>
            <a:endParaRPr lang="en-US" sz="1300" b="0" dirty="0">
              <a:solidFill>
                <a:srgbClr val="FFFFFF"/>
              </a:solidFill>
              <a:latin typeface="Calibri"/>
            </a:endParaRPr>
          </a:p>
          <a:p>
            <a:pPr>
              <a:spcBef>
                <a:spcPts val="400"/>
              </a:spcBef>
            </a:pPr>
            <a:r>
              <a:rPr lang="en-US" sz="1300" b="0" dirty="0">
                <a:solidFill>
                  <a:srgbClr val="FFFFFF"/>
                </a:solidFill>
                <a:latin typeface="Calibri"/>
              </a:rPr>
              <a:t>The OSCE JSON partitions the data so that the diagnosis is concealed from the </a:t>
            </a:r>
            <a:r>
              <a:rPr sz="1300" b="0" dirty="0">
                <a:solidFill>
                  <a:srgbClr val="FFFFFF"/>
                </a:solidFill>
                <a:latin typeface="Calibri"/>
              </a:rPr>
              <a:t>patient </a:t>
            </a:r>
            <a:r>
              <a:rPr lang="en-US" sz="1300" b="0" dirty="0">
                <a:solidFill>
                  <a:srgbClr val="FFFFFF"/>
                </a:solidFill>
                <a:latin typeface="Calibri"/>
              </a:rPr>
              <a:t>agent</a:t>
            </a:r>
            <a:endParaRPr sz="1300" b="0" dirty="0">
              <a:solidFill>
                <a:srgbClr val="FFFFF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97A7DAD8-7654-E534-8872-FC28E8031DC2}"/>
              </a:ext>
            </a:extLst>
          </p:cNvPr>
          <p:cNvSpPr/>
          <p:nvPr/>
        </p:nvSpPr>
        <p:spPr>
          <a:xfrm>
            <a:off x="6140327" y="2474581"/>
            <a:ext cx="4481847" cy="3347675"/>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
            <a:ext cx="11247120" cy="492443"/>
          </a:xfrm>
          <a:prstGeom prst="rect">
            <a:avLst/>
          </a:prstGeom>
          <a:noFill/>
        </p:spPr>
        <p:txBody>
          <a:bodyPr wrap="square">
            <a:spAutoFit/>
          </a:bodyPr>
          <a:lstStyle/>
          <a:p>
            <a:r>
              <a:rPr sz="2600" b="1" dirty="0">
                <a:solidFill>
                  <a:srgbClr val="FFFFFF"/>
                </a:solidFill>
                <a:latin typeface="Calibri"/>
              </a:rPr>
              <a:t>The </a:t>
            </a:r>
            <a:r>
              <a:rPr sz="2600" b="1" dirty="0" err="1">
                <a:solidFill>
                  <a:srgbClr val="FFFFFF"/>
                </a:solidFill>
                <a:latin typeface="Calibri"/>
              </a:rPr>
              <a:t>MedQA</a:t>
            </a:r>
            <a:r>
              <a:rPr sz="2600" b="1" dirty="0">
                <a:solidFill>
                  <a:srgbClr val="FFFFFF"/>
                </a:solidFill>
                <a:latin typeface="Calibri"/>
              </a:rPr>
              <a:t> dataset</a:t>
            </a:r>
          </a:p>
        </p:txBody>
      </p:sp>
      <p:sp>
        <p:nvSpPr>
          <p:cNvPr id="5" name="Rectangle 4"/>
          <p:cNvSpPr/>
          <p:nvPr/>
        </p:nvSpPr>
        <p:spPr>
          <a:xfrm>
            <a:off x="457200" y="749808"/>
            <a:ext cx="2011680" cy="36576"/>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35744"/>
            <a:ext cx="11247120" cy="923330"/>
          </a:xfrm>
          <a:prstGeom prst="rect">
            <a:avLst/>
          </a:prstGeom>
          <a:noFill/>
        </p:spPr>
        <p:txBody>
          <a:bodyPr wrap="square">
            <a:spAutoFit/>
          </a:bodyPr>
          <a:lstStyle/>
          <a:p>
            <a:r>
              <a:rPr b="0" dirty="0" err="1">
                <a:solidFill>
                  <a:srgbClr val="FFFFFF"/>
                </a:solidFill>
                <a:latin typeface="Calibri"/>
              </a:rPr>
              <a:t>MedQA</a:t>
            </a:r>
            <a:r>
              <a:rPr b="0" dirty="0">
                <a:solidFill>
                  <a:srgbClr val="FFFFFF"/>
                </a:solidFill>
                <a:latin typeface="Calibri"/>
              </a:rPr>
              <a:t> (Jin et al., 2020/21</a:t>
            </a:r>
            <a:r>
              <a:rPr lang="en-US" b="0" dirty="0">
                <a:solidFill>
                  <a:srgbClr val="FFFFFF"/>
                </a:solidFill>
                <a:latin typeface="Calibri"/>
              </a:rPr>
              <a:t>, </a:t>
            </a:r>
            <a:r>
              <a:rPr lang="en-CA" dirty="0">
                <a:solidFill>
                  <a:srgbClr val="FFFFFF"/>
                </a:solidFill>
              </a:rPr>
              <a:t>github.com/jind11/</a:t>
            </a:r>
            <a:r>
              <a:rPr lang="en-CA" dirty="0" err="1">
                <a:solidFill>
                  <a:srgbClr val="FFFFFF"/>
                </a:solidFill>
              </a:rPr>
              <a:t>MedQA</a:t>
            </a:r>
            <a:r>
              <a:rPr b="0" dirty="0">
                <a:solidFill>
                  <a:srgbClr val="FFFFFF"/>
                </a:solidFill>
                <a:latin typeface="Calibri"/>
              </a:rPr>
              <a:t>) is a large-scale medical question-answering corpus built from professional licensing exams. We use only the English USMLE 4-option subset: each item is a question </a:t>
            </a:r>
            <a:r>
              <a:rPr b="1" dirty="0">
                <a:solidFill>
                  <a:srgbClr val="FFFFFF"/>
                </a:solidFill>
                <a:latin typeface="Calibri"/>
              </a:rPr>
              <a:t>stem</a:t>
            </a:r>
            <a:r>
              <a:rPr b="0" dirty="0">
                <a:solidFill>
                  <a:srgbClr val="FFFFFF"/>
                </a:solidFill>
                <a:latin typeface="Calibri"/>
              </a:rPr>
              <a:t>, four </a:t>
            </a:r>
            <a:r>
              <a:rPr b="1" dirty="0">
                <a:solidFill>
                  <a:srgbClr val="FFFFFF"/>
                </a:solidFill>
                <a:latin typeface="Calibri"/>
              </a:rPr>
              <a:t>answer choices </a:t>
            </a:r>
            <a:r>
              <a:rPr b="0" dirty="0">
                <a:solidFill>
                  <a:srgbClr val="FFFFFF"/>
                </a:solidFill>
                <a:latin typeface="Calibri"/>
              </a:rPr>
              <a:t>(A–D), and a </a:t>
            </a:r>
            <a:r>
              <a:rPr b="1" dirty="0">
                <a:solidFill>
                  <a:srgbClr val="FFFFFF"/>
                </a:solidFill>
                <a:latin typeface="Calibri"/>
              </a:rPr>
              <a:t>gold answer </a:t>
            </a:r>
            <a:r>
              <a:rPr b="0" dirty="0">
                <a:solidFill>
                  <a:srgbClr val="FFFFFF"/>
                </a:solidFill>
                <a:latin typeface="Calibri"/>
              </a:rPr>
              <a:t>— no specialty-tagged clinic note</a:t>
            </a:r>
            <a:r>
              <a:rPr lang="en-US" b="0" dirty="0">
                <a:solidFill>
                  <a:srgbClr val="FFFFFF"/>
                </a:solidFill>
                <a:latin typeface="Calibri"/>
              </a:rPr>
              <a:t>s</a:t>
            </a:r>
            <a:r>
              <a:rPr b="0" dirty="0">
                <a:solidFill>
                  <a:srgbClr val="FFFFFF"/>
                </a:solidFill>
                <a:latin typeface="Calibri"/>
              </a:rPr>
              <a:t> and no dialogue</a:t>
            </a:r>
            <a:r>
              <a:rPr lang="en-US" b="0" dirty="0">
                <a:solidFill>
                  <a:srgbClr val="FFFFFF"/>
                </a:solidFill>
                <a:latin typeface="Calibri"/>
              </a:rPr>
              <a:t>s</a:t>
            </a:r>
            <a:r>
              <a:rPr b="0" dirty="0">
                <a:solidFill>
                  <a:srgbClr val="FFFFFF"/>
                </a:solidFill>
                <a:latin typeface="Calibri"/>
              </a:rPr>
              <a:t>. </a:t>
            </a:r>
          </a:p>
        </p:txBody>
      </p:sp>
      <p:sp>
        <p:nvSpPr>
          <p:cNvPr id="7" name="Rounded Rectangle 6"/>
          <p:cNvSpPr/>
          <p:nvPr/>
        </p:nvSpPr>
        <p:spPr>
          <a:xfrm>
            <a:off x="1314805" y="2474581"/>
            <a:ext cx="4481847" cy="3347675"/>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81792" y="2695648"/>
            <a:ext cx="3547872" cy="2698175"/>
          </a:xfrm>
          <a:prstGeom prst="rect">
            <a:avLst/>
          </a:prstGeom>
          <a:noFill/>
        </p:spPr>
        <p:txBody>
          <a:bodyPr wrap="square">
            <a:spAutoFit/>
          </a:bodyPr>
          <a:lstStyle/>
          <a:p>
            <a:r>
              <a:rPr b="1" dirty="0">
                <a:solidFill>
                  <a:srgbClr val="4A9EFF"/>
                </a:solidFill>
                <a:latin typeface="Calibri"/>
              </a:rPr>
              <a:t>How the q</a:t>
            </a:r>
            <a:r>
              <a:rPr lang="en-US" b="1" dirty="0">
                <a:solidFill>
                  <a:srgbClr val="4A9EFF"/>
                </a:solidFill>
                <a:latin typeface="Calibri"/>
              </a:rPr>
              <a:t>uestion </a:t>
            </a:r>
            <a:r>
              <a:rPr b="1" dirty="0">
                <a:solidFill>
                  <a:srgbClr val="4A9EFF"/>
                </a:solidFill>
                <a:latin typeface="Calibri"/>
              </a:rPr>
              <a:t>bank is arranged</a:t>
            </a:r>
          </a:p>
          <a:p>
            <a:pPr>
              <a:spcBef>
                <a:spcPts val="400"/>
              </a:spcBef>
            </a:pPr>
            <a:r>
              <a:rPr lang="en-US" sz="1600" b="0" dirty="0">
                <a:solidFill>
                  <a:srgbClr val="FFFFFF"/>
                </a:solidFill>
                <a:latin typeface="Calibri"/>
              </a:rPr>
              <a:t>T</a:t>
            </a:r>
            <a:r>
              <a:rPr sz="1600" b="0" dirty="0">
                <a:solidFill>
                  <a:srgbClr val="FFFFFF"/>
                </a:solidFill>
                <a:latin typeface="Calibri"/>
              </a:rPr>
              <a:t>rain 10,178</a:t>
            </a:r>
            <a:endParaRPr lang="en-US" sz="1600" b="0" dirty="0">
              <a:solidFill>
                <a:srgbClr val="FFFFFF"/>
              </a:solidFill>
              <a:latin typeface="Calibri"/>
            </a:endParaRPr>
          </a:p>
          <a:p>
            <a:pPr>
              <a:spcBef>
                <a:spcPts val="400"/>
              </a:spcBef>
            </a:pPr>
            <a:r>
              <a:rPr lang="en-US" sz="1600" dirty="0">
                <a:solidFill>
                  <a:srgbClr val="FFFFFF"/>
                </a:solidFill>
                <a:latin typeface="Calibri"/>
              </a:rPr>
              <a:t>V</a:t>
            </a:r>
            <a:r>
              <a:rPr sz="1600" b="0" dirty="0">
                <a:solidFill>
                  <a:srgbClr val="FFFFFF"/>
                </a:solidFill>
                <a:latin typeface="Calibri"/>
              </a:rPr>
              <a:t>alidation 1,272 </a:t>
            </a:r>
            <a:endParaRPr lang="en-US" sz="1600" dirty="0">
              <a:solidFill>
                <a:srgbClr val="FFFFFF"/>
              </a:solidFill>
              <a:latin typeface="Calibri"/>
            </a:endParaRPr>
          </a:p>
          <a:p>
            <a:pPr>
              <a:spcBef>
                <a:spcPts val="400"/>
              </a:spcBef>
            </a:pPr>
            <a:r>
              <a:rPr lang="en-US" sz="1600" b="0" dirty="0">
                <a:solidFill>
                  <a:srgbClr val="FFFFFF"/>
                </a:solidFill>
                <a:latin typeface="Calibri"/>
              </a:rPr>
              <a:t>T</a:t>
            </a:r>
            <a:r>
              <a:rPr sz="1600" b="0" dirty="0">
                <a:solidFill>
                  <a:srgbClr val="FFFFFF"/>
                </a:solidFill>
                <a:latin typeface="Calibri"/>
              </a:rPr>
              <a:t>est 1,273 </a:t>
            </a:r>
            <a:endParaRPr lang="en-US" sz="1600" b="0" dirty="0">
              <a:solidFill>
                <a:srgbClr val="FFFFFF"/>
              </a:solidFill>
              <a:latin typeface="Calibri"/>
            </a:endParaRPr>
          </a:p>
          <a:p>
            <a:pPr>
              <a:spcBef>
                <a:spcPts val="400"/>
              </a:spcBef>
            </a:pPr>
            <a:r>
              <a:rPr sz="1600" b="0" dirty="0">
                <a:solidFill>
                  <a:srgbClr val="FFFFFF"/>
                </a:solidFill>
                <a:latin typeface="Calibri"/>
              </a:rPr>
              <a:t>= 12,723. </a:t>
            </a:r>
            <a:endParaRPr lang="en-US" sz="1600" b="0" dirty="0">
              <a:solidFill>
                <a:srgbClr val="FFFFFF"/>
              </a:solidFill>
              <a:latin typeface="Calibri"/>
            </a:endParaRPr>
          </a:p>
          <a:p>
            <a:pPr>
              <a:spcBef>
                <a:spcPts val="400"/>
              </a:spcBef>
            </a:pPr>
            <a:endParaRPr lang="en-US" sz="1600" dirty="0">
              <a:solidFill>
                <a:srgbClr val="FFFFFF"/>
              </a:solidFill>
              <a:latin typeface="Calibri"/>
            </a:endParaRPr>
          </a:p>
          <a:p>
            <a:pPr>
              <a:spcBef>
                <a:spcPts val="400"/>
              </a:spcBef>
            </a:pPr>
            <a:r>
              <a:rPr sz="1600" b="0" dirty="0">
                <a:solidFill>
                  <a:srgbClr val="FFFFFF"/>
                </a:solidFill>
                <a:latin typeface="Calibri"/>
              </a:rPr>
              <a:t>We screen all three as one pool</a:t>
            </a:r>
            <a:r>
              <a:rPr lang="en-US" sz="1600" dirty="0">
                <a:solidFill>
                  <a:srgbClr val="FFFFFF"/>
                </a:solidFill>
                <a:latin typeface="Calibri"/>
              </a:rPr>
              <a:t>. </a:t>
            </a:r>
          </a:p>
          <a:p>
            <a:pPr>
              <a:spcBef>
                <a:spcPts val="400"/>
              </a:spcBef>
            </a:pPr>
            <a:r>
              <a:rPr sz="1600" b="0" dirty="0">
                <a:solidFill>
                  <a:srgbClr val="FFFFFF"/>
                </a:solidFill>
                <a:latin typeface="Calibri"/>
              </a:rPr>
              <a:t>There is no LBP or “spine” label — items are mixed USMLE topics.</a:t>
            </a:r>
          </a:p>
        </p:txBody>
      </p:sp>
      <p:sp>
        <p:nvSpPr>
          <p:cNvPr id="10" name="TextBox 9"/>
          <p:cNvSpPr txBox="1"/>
          <p:nvPr/>
        </p:nvSpPr>
        <p:spPr>
          <a:xfrm>
            <a:off x="7045216" y="2739143"/>
            <a:ext cx="3364992" cy="2400657"/>
          </a:xfrm>
          <a:prstGeom prst="rect">
            <a:avLst/>
          </a:prstGeom>
          <a:noFill/>
        </p:spPr>
        <p:txBody>
          <a:bodyPr wrap="square">
            <a:spAutoFit/>
          </a:bodyPr>
          <a:lstStyle/>
          <a:p>
            <a:r>
              <a:rPr b="1" dirty="0">
                <a:solidFill>
                  <a:srgbClr val="4A9EFF"/>
                </a:solidFill>
                <a:latin typeface="Calibri"/>
              </a:rPr>
              <a:t>What our filters read</a:t>
            </a:r>
          </a:p>
          <a:p>
            <a:pPr>
              <a:spcBef>
                <a:spcPts val="400"/>
              </a:spcBef>
            </a:pPr>
            <a:r>
              <a:rPr sz="1600" b="0" dirty="0">
                <a:solidFill>
                  <a:srgbClr val="FFFFFF"/>
                </a:solidFill>
                <a:latin typeface="Calibri"/>
              </a:rPr>
              <a:t>Stage 1 (lexical) searches </a:t>
            </a:r>
            <a:r>
              <a:rPr lang="en-US" sz="1600" b="0" dirty="0">
                <a:solidFill>
                  <a:srgbClr val="FFFFFF"/>
                </a:solidFill>
                <a:latin typeface="Calibri"/>
              </a:rPr>
              <a:t>on:</a:t>
            </a:r>
          </a:p>
          <a:p>
            <a:pPr marL="285750" indent="-285750">
              <a:spcBef>
                <a:spcPts val="400"/>
              </a:spcBef>
              <a:buFont typeface="Arial" panose="020B0604020202020204" pitchFamily="34" charset="0"/>
              <a:buChar char="•"/>
            </a:pPr>
            <a:r>
              <a:rPr lang="en-CA" sz="1600" b="0" dirty="0">
                <a:solidFill>
                  <a:srgbClr val="FFFFFF"/>
                </a:solidFill>
                <a:latin typeface="Calibri"/>
              </a:rPr>
              <a:t>S</a:t>
            </a:r>
            <a:r>
              <a:rPr lang="en-CA" sz="1600" dirty="0">
                <a:solidFill>
                  <a:srgbClr val="FFFFFF"/>
                </a:solidFill>
                <a:latin typeface="Calibri"/>
              </a:rPr>
              <a:t>tem (question)</a:t>
            </a:r>
            <a:endParaRPr lang="en-US" sz="1600" b="0" dirty="0">
              <a:solidFill>
                <a:srgbClr val="FFFFFF"/>
              </a:solidFill>
              <a:latin typeface="Calibri"/>
            </a:endParaRPr>
          </a:p>
          <a:p>
            <a:pPr marL="285750" indent="-285750">
              <a:spcBef>
                <a:spcPts val="400"/>
              </a:spcBef>
              <a:buFont typeface="Arial" panose="020B0604020202020204" pitchFamily="34" charset="0"/>
              <a:buChar char="•"/>
            </a:pPr>
            <a:r>
              <a:rPr lang="en-CA" sz="1600" b="0" dirty="0">
                <a:solidFill>
                  <a:srgbClr val="FFFFFF"/>
                </a:solidFill>
                <a:latin typeface="Calibri"/>
              </a:rPr>
              <a:t>O</a:t>
            </a:r>
            <a:r>
              <a:rPr sz="1600" b="0" dirty="0" err="1">
                <a:solidFill>
                  <a:srgbClr val="FFFFFF"/>
                </a:solidFill>
                <a:latin typeface="Calibri"/>
              </a:rPr>
              <a:t>ptions</a:t>
            </a:r>
            <a:endParaRPr lang="en-US" sz="1600" b="0" dirty="0">
              <a:solidFill>
                <a:srgbClr val="FFFFFF"/>
              </a:solidFill>
              <a:latin typeface="Calibri"/>
            </a:endParaRPr>
          </a:p>
          <a:p>
            <a:pPr marL="285750" indent="-285750">
              <a:spcBef>
                <a:spcPts val="400"/>
              </a:spcBef>
              <a:buFont typeface="Arial" panose="020B0604020202020204" pitchFamily="34" charset="0"/>
              <a:buChar char="•"/>
            </a:pPr>
            <a:r>
              <a:rPr lang="en-CA" sz="1600" b="0" dirty="0">
                <a:solidFill>
                  <a:srgbClr val="FFFFFF"/>
                </a:solidFill>
                <a:latin typeface="Calibri"/>
              </a:rPr>
              <a:t>A</a:t>
            </a:r>
            <a:r>
              <a:rPr sz="1600" b="0" dirty="0" err="1">
                <a:solidFill>
                  <a:srgbClr val="FFFFFF"/>
                </a:solidFill>
                <a:latin typeface="Calibri"/>
              </a:rPr>
              <a:t>nswer</a:t>
            </a:r>
            <a:endParaRPr lang="en-US" sz="1600" b="0" dirty="0">
              <a:solidFill>
                <a:srgbClr val="FFFFFF"/>
              </a:solidFill>
              <a:latin typeface="Calibri"/>
            </a:endParaRPr>
          </a:p>
          <a:p>
            <a:pPr>
              <a:spcBef>
                <a:spcPts val="400"/>
              </a:spcBef>
            </a:pPr>
            <a:endParaRPr lang="en-US" sz="1600" b="0" dirty="0">
              <a:solidFill>
                <a:srgbClr val="FFFFFF"/>
              </a:solidFill>
              <a:latin typeface="Calibri"/>
            </a:endParaRPr>
          </a:p>
          <a:p>
            <a:pPr>
              <a:spcBef>
                <a:spcPts val="400"/>
              </a:spcBef>
            </a:pPr>
            <a:r>
              <a:rPr lang="en-US" sz="1600" b="0" dirty="0">
                <a:solidFill>
                  <a:srgbClr val="FFFFFF"/>
                </a:solidFill>
                <a:latin typeface="Calibri"/>
              </a:rPr>
              <a:t>Stage 2 filters are applied to stem (question) only </a:t>
            </a:r>
          </a:p>
        </p:txBody>
      </p:sp>
      <p:sp>
        <p:nvSpPr>
          <p:cNvPr id="14" name="TextBox 13"/>
          <p:cNvSpPr txBox="1"/>
          <p:nvPr/>
        </p:nvSpPr>
        <p:spPr>
          <a:xfrm>
            <a:off x="11256762" y="6510528"/>
            <a:ext cx="447558" cy="261610"/>
          </a:xfrm>
          <a:prstGeom prst="rect">
            <a:avLst/>
          </a:prstGeom>
          <a:noFill/>
        </p:spPr>
        <p:txBody>
          <a:bodyPr wrap="none">
            <a:spAutoFit/>
          </a:bodyPr>
          <a:lstStyle/>
          <a:p>
            <a:pPr algn="r"/>
            <a:r>
              <a:rPr lang="en-US" sz="1100" dirty="0">
                <a:solidFill>
                  <a:srgbClr val="C8CDD6"/>
                </a:solidFill>
                <a:latin typeface="Calibri"/>
              </a:rPr>
              <a:t>3</a:t>
            </a:r>
            <a:r>
              <a:rPr sz="1100" b="0" dirty="0">
                <a:solidFill>
                  <a:srgbClr val="C8CDD6"/>
                </a:solidFill>
                <a:latin typeface="Calibri"/>
              </a:rPr>
              <a:t> / </a:t>
            </a:r>
            <a:r>
              <a:rPr lang="en-US" sz="1100" b="0" dirty="0">
                <a:solidFill>
                  <a:srgbClr val="C8CDD6"/>
                </a:solidFill>
                <a:latin typeface="Calibri"/>
              </a:rPr>
              <a:t>7</a:t>
            </a:r>
            <a:endParaRPr sz="1100" b="0" dirty="0">
              <a:solidFill>
                <a:srgbClr val="C8CDD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4521879" cy="430887"/>
          </a:xfrm>
          <a:prstGeom prst="rect">
            <a:avLst/>
          </a:prstGeom>
          <a:noFill/>
        </p:spPr>
        <p:txBody>
          <a:bodyPr wrap="none">
            <a:spAutoFit/>
          </a:bodyPr>
          <a:lstStyle/>
          <a:p>
            <a:r>
              <a:rPr sz="2200" b="1" dirty="0">
                <a:solidFill>
                  <a:srgbClr val="FFFFFF"/>
                </a:solidFill>
                <a:latin typeface="Calibri"/>
              </a:rPr>
              <a:t>Search terms used in the auto-screen</a:t>
            </a:r>
          </a:p>
        </p:txBody>
      </p:sp>
      <p:sp>
        <p:nvSpPr>
          <p:cNvPr id="5" name="TextBox 4"/>
          <p:cNvSpPr txBox="1"/>
          <p:nvPr/>
        </p:nvSpPr>
        <p:spPr>
          <a:xfrm>
            <a:off x="411480" y="530352"/>
            <a:ext cx="11338560" cy="276999"/>
          </a:xfrm>
          <a:prstGeom prst="rect">
            <a:avLst/>
          </a:prstGeom>
          <a:noFill/>
        </p:spPr>
        <p:txBody>
          <a:bodyPr wrap="square">
            <a:spAutoFit/>
          </a:bodyPr>
          <a:lstStyle/>
          <a:p>
            <a:r>
              <a:rPr sz="1200" b="0" dirty="0">
                <a:solidFill>
                  <a:srgbClr val="C8CDD6"/>
                </a:solidFill>
                <a:latin typeface="Calibri"/>
              </a:rPr>
              <a:t>Stage 1 matches </a:t>
            </a:r>
            <a:r>
              <a:rPr lang="en-US" sz="1200" b="0" dirty="0">
                <a:solidFill>
                  <a:srgbClr val="C8CDD6"/>
                </a:solidFill>
                <a:latin typeface="Calibri"/>
              </a:rPr>
              <a:t>question</a:t>
            </a:r>
            <a:r>
              <a:rPr sz="1200" b="0" dirty="0">
                <a:solidFill>
                  <a:srgbClr val="C8CDD6"/>
                </a:solidFill>
                <a:latin typeface="Calibri"/>
              </a:rPr>
              <a:t> + options + answer</a:t>
            </a:r>
            <a:r>
              <a:rPr lang="en-US" sz="1200" b="0" dirty="0">
                <a:solidFill>
                  <a:srgbClr val="C8CDD6"/>
                </a:solidFill>
                <a:latin typeface="Calibri"/>
              </a:rPr>
              <a:t>, whereas later </a:t>
            </a:r>
            <a:r>
              <a:rPr sz="1200" b="0" dirty="0">
                <a:solidFill>
                  <a:srgbClr val="C8CDD6"/>
                </a:solidFill>
                <a:latin typeface="Calibri"/>
              </a:rPr>
              <a:t>stages use the </a:t>
            </a:r>
            <a:r>
              <a:rPr lang="en-US" sz="1200" b="0" dirty="0">
                <a:solidFill>
                  <a:srgbClr val="C8CDD6"/>
                </a:solidFill>
                <a:latin typeface="Calibri"/>
              </a:rPr>
              <a:t>question</a:t>
            </a:r>
            <a:r>
              <a:rPr sz="1200" b="0" dirty="0">
                <a:solidFill>
                  <a:srgbClr val="C8CDD6"/>
                </a:solidFill>
                <a:latin typeface="Calibri"/>
              </a:rPr>
              <a:t> only. </a:t>
            </a:r>
            <a:r>
              <a:rPr lang="en-US" sz="1200" dirty="0">
                <a:solidFill>
                  <a:srgbClr val="C8CDD6"/>
                </a:solidFill>
                <a:latin typeface="Calibri"/>
              </a:rPr>
              <a:t>Used c</a:t>
            </a:r>
            <a:r>
              <a:rPr lang="en-US" sz="1200" b="0" dirty="0">
                <a:solidFill>
                  <a:srgbClr val="C8CDD6"/>
                </a:solidFill>
                <a:latin typeface="Calibri"/>
              </a:rPr>
              <a:t>ase-insensitive sampling</a:t>
            </a:r>
            <a:endParaRPr sz="1200" b="0" dirty="0">
              <a:solidFill>
                <a:srgbClr val="C8CDD6"/>
              </a:solidFill>
              <a:latin typeface="Calibri"/>
            </a:endParaRPr>
          </a:p>
        </p:txBody>
      </p:sp>
      <p:sp>
        <p:nvSpPr>
          <p:cNvPr id="6" name="Rounded Rectangle 5"/>
          <p:cNvSpPr/>
          <p:nvPr/>
        </p:nvSpPr>
        <p:spPr>
          <a:xfrm>
            <a:off x="701899" y="932688"/>
            <a:ext cx="6883758" cy="50749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95675" y="1212318"/>
            <a:ext cx="3538728" cy="4470455"/>
          </a:xfrm>
          <a:prstGeom prst="rect">
            <a:avLst/>
          </a:prstGeom>
          <a:noFill/>
        </p:spPr>
        <p:txBody>
          <a:bodyPr wrap="square">
            <a:spAutoFit/>
          </a:bodyPr>
          <a:lstStyle/>
          <a:p>
            <a:r>
              <a:rPr sz="1400" b="1" dirty="0">
                <a:solidFill>
                  <a:srgbClr val="4A9EFF"/>
                </a:solidFill>
                <a:latin typeface="Calibri"/>
              </a:rPr>
              <a:t>Stage 1</a:t>
            </a:r>
            <a:r>
              <a:rPr lang="en-US" sz="1400" b="1" dirty="0">
                <a:solidFill>
                  <a:srgbClr val="4A9EFF"/>
                </a:solidFill>
                <a:latin typeface="Calibri"/>
              </a:rPr>
              <a:t>a</a:t>
            </a:r>
            <a:r>
              <a:rPr sz="1400" b="1" dirty="0">
                <a:solidFill>
                  <a:srgbClr val="4A9EFF"/>
                </a:solidFill>
                <a:latin typeface="Calibri"/>
              </a:rPr>
              <a:t> keep — LBP / spine</a:t>
            </a:r>
          </a:p>
          <a:p>
            <a:pPr>
              <a:spcBef>
                <a:spcPts val="300"/>
              </a:spcBef>
              <a:spcAft>
                <a:spcPts val="100"/>
              </a:spcAft>
            </a:pPr>
            <a:r>
              <a:rPr sz="1100" b="0" dirty="0">
                <a:solidFill>
                  <a:srgbClr val="FFFFFF"/>
                </a:solidFill>
                <a:latin typeface="Calibri"/>
              </a:rPr>
              <a:t>low back, lower back, lumbago</a:t>
            </a:r>
          </a:p>
          <a:p>
            <a:pPr>
              <a:spcBef>
                <a:spcPts val="300"/>
              </a:spcBef>
              <a:spcAft>
                <a:spcPts val="100"/>
              </a:spcAft>
            </a:pPr>
            <a:r>
              <a:rPr sz="1100" b="0" dirty="0">
                <a:solidFill>
                  <a:srgbClr val="FFFFFF"/>
                </a:solidFill>
                <a:latin typeface="Calibri"/>
              </a:rPr>
              <a:t>lumbar; lumbosacral</a:t>
            </a:r>
          </a:p>
          <a:p>
            <a:pPr>
              <a:spcBef>
                <a:spcPts val="300"/>
              </a:spcBef>
              <a:spcAft>
                <a:spcPts val="100"/>
              </a:spcAft>
            </a:pPr>
            <a:r>
              <a:rPr sz="1100" b="0" dirty="0">
                <a:solidFill>
                  <a:srgbClr val="FFFFFF"/>
                </a:solidFill>
                <a:latin typeface="Calibri"/>
              </a:rPr>
              <a:t>sciatica / sciatic; radiculopath</a:t>
            </a:r>
            <a:r>
              <a:rPr lang="en-US" sz="1100" b="0" dirty="0">
                <a:solidFill>
                  <a:srgbClr val="FFFFFF"/>
                </a:solidFill>
                <a:latin typeface="Calibri"/>
              </a:rPr>
              <a:t>y</a:t>
            </a:r>
            <a:endParaRPr sz="1100" b="0" dirty="0">
              <a:solidFill>
                <a:srgbClr val="FFFFFF"/>
              </a:solidFill>
              <a:latin typeface="Calibri"/>
            </a:endParaRPr>
          </a:p>
          <a:p>
            <a:pPr>
              <a:spcBef>
                <a:spcPts val="300"/>
              </a:spcBef>
              <a:spcAft>
                <a:spcPts val="100"/>
              </a:spcAft>
            </a:pPr>
            <a:r>
              <a:rPr sz="1100" b="0" dirty="0">
                <a:solidFill>
                  <a:srgbClr val="FFFFFF"/>
                </a:solidFill>
                <a:latin typeface="Calibri"/>
              </a:rPr>
              <a:t>sacroiliac; sacrum / sacral</a:t>
            </a:r>
          </a:p>
          <a:p>
            <a:pPr>
              <a:spcBef>
                <a:spcPts val="300"/>
              </a:spcBef>
              <a:spcAft>
                <a:spcPts val="100"/>
              </a:spcAft>
            </a:pPr>
            <a:r>
              <a:rPr sz="1100" b="0" dirty="0">
                <a:solidFill>
                  <a:srgbClr val="FFFFFF"/>
                </a:solidFill>
                <a:latin typeface="Calibri"/>
              </a:rPr>
              <a:t>coccyx / tailbone</a:t>
            </a:r>
          </a:p>
          <a:p>
            <a:pPr>
              <a:spcBef>
                <a:spcPts val="300"/>
              </a:spcBef>
              <a:spcAft>
                <a:spcPts val="100"/>
              </a:spcAft>
            </a:pPr>
            <a:r>
              <a:rPr sz="1100" b="0" dirty="0">
                <a:solidFill>
                  <a:srgbClr val="FFFFFF"/>
                </a:solidFill>
                <a:latin typeface="Calibri"/>
              </a:rPr>
              <a:t>cauda equina</a:t>
            </a:r>
          </a:p>
          <a:p>
            <a:pPr>
              <a:spcBef>
                <a:spcPts val="300"/>
              </a:spcBef>
              <a:spcAft>
                <a:spcPts val="100"/>
              </a:spcAft>
            </a:pPr>
            <a:r>
              <a:rPr sz="1100" b="0" dirty="0">
                <a:solidFill>
                  <a:srgbClr val="FFFFFF"/>
                </a:solidFill>
                <a:latin typeface="Calibri"/>
              </a:rPr>
              <a:t>saddle </a:t>
            </a:r>
            <a:r>
              <a:rPr sz="1100" b="0" dirty="0" err="1">
                <a:solidFill>
                  <a:srgbClr val="FFFFFF"/>
                </a:solidFill>
                <a:latin typeface="Calibri"/>
              </a:rPr>
              <a:t>anesth</a:t>
            </a:r>
            <a:r>
              <a:rPr sz="1100" b="0" dirty="0">
                <a:solidFill>
                  <a:srgbClr val="FFFFFF"/>
                </a:solidFill>
                <a:latin typeface="Calibri"/>
              </a:rPr>
              <a:t> / numb / </a:t>
            </a:r>
            <a:r>
              <a:rPr sz="1100" b="0" dirty="0" err="1">
                <a:solidFill>
                  <a:srgbClr val="FFFFFF"/>
                </a:solidFill>
                <a:latin typeface="Calibri"/>
              </a:rPr>
              <a:t>hypoest</a:t>
            </a:r>
            <a:endParaRPr sz="1100" b="0" dirty="0">
              <a:solidFill>
                <a:srgbClr val="FFFFFF"/>
              </a:solidFill>
              <a:latin typeface="Calibri"/>
            </a:endParaRPr>
          </a:p>
          <a:p>
            <a:pPr>
              <a:spcBef>
                <a:spcPts val="300"/>
              </a:spcBef>
              <a:spcAft>
                <a:spcPts val="100"/>
              </a:spcAft>
            </a:pPr>
            <a:r>
              <a:rPr sz="1100" b="0" dirty="0">
                <a:solidFill>
                  <a:srgbClr val="FFFFFF"/>
                </a:solidFill>
                <a:latin typeface="Calibri"/>
              </a:rPr>
              <a:t>spinal stenosis; lumbar stenosis</a:t>
            </a:r>
          </a:p>
          <a:p>
            <a:pPr>
              <a:spcBef>
                <a:spcPts val="300"/>
              </a:spcBef>
              <a:spcAft>
                <a:spcPts val="100"/>
              </a:spcAft>
            </a:pPr>
            <a:r>
              <a:rPr sz="1100" b="0" dirty="0">
                <a:solidFill>
                  <a:srgbClr val="FFFFFF"/>
                </a:solidFill>
                <a:latin typeface="Calibri"/>
              </a:rPr>
              <a:t>neurogenic claudication</a:t>
            </a:r>
          </a:p>
          <a:p>
            <a:pPr>
              <a:spcBef>
                <a:spcPts val="300"/>
              </a:spcBef>
              <a:spcAft>
                <a:spcPts val="100"/>
              </a:spcAft>
            </a:pPr>
            <a:r>
              <a:rPr sz="1100" b="0" dirty="0">
                <a:solidFill>
                  <a:srgbClr val="FFFFFF"/>
                </a:solidFill>
                <a:latin typeface="Calibri"/>
              </a:rPr>
              <a:t>disc/disk herni</a:t>
            </a:r>
            <a:r>
              <a:rPr lang="en-US" sz="1100" dirty="0">
                <a:solidFill>
                  <a:srgbClr val="FFFFFF"/>
                </a:solidFill>
                <a:latin typeface="Calibri"/>
              </a:rPr>
              <a:t>ation</a:t>
            </a:r>
            <a:r>
              <a:rPr sz="1100" b="0" dirty="0">
                <a:solidFill>
                  <a:srgbClr val="FFFFFF"/>
                </a:solidFill>
                <a:latin typeface="Calibri"/>
              </a:rPr>
              <a:t>; herniated disc/disk</a:t>
            </a:r>
          </a:p>
          <a:p>
            <a:pPr>
              <a:spcBef>
                <a:spcPts val="300"/>
              </a:spcBef>
              <a:spcAft>
                <a:spcPts val="100"/>
              </a:spcAft>
            </a:pPr>
            <a:r>
              <a:rPr sz="1100" b="0" dirty="0">
                <a:solidFill>
                  <a:srgbClr val="FFFFFF"/>
                </a:solidFill>
                <a:latin typeface="Calibri"/>
              </a:rPr>
              <a:t>nucleus pulposus; HNP</a:t>
            </a:r>
          </a:p>
          <a:p>
            <a:pPr>
              <a:spcBef>
                <a:spcPts val="300"/>
              </a:spcBef>
              <a:spcAft>
                <a:spcPts val="100"/>
              </a:spcAft>
            </a:pPr>
            <a:r>
              <a:rPr sz="1100" b="0" dirty="0">
                <a:solidFill>
                  <a:srgbClr val="FFFFFF"/>
                </a:solidFill>
                <a:latin typeface="Calibri"/>
              </a:rPr>
              <a:t>spondylolisthesis; spondylolysis; spondylosis</a:t>
            </a:r>
          </a:p>
          <a:p>
            <a:pPr>
              <a:spcBef>
                <a:spcPts val="300"/>
              </a:spcBef>
              <a:spcAft>
                <a:spcPts val="100"/>
              </a:spcAft>
            </a:pPr>
            <a:r>
              <a:rPr sz="1100" b="0" dirty="0">
                <a:solidFill>
                  <a:srgbClr val="FFFFFF"/>
                </a:solidFill>
                <a:latin typeface="Calibri"/>
              </a:rPr>
              <a:t>ankylosing spondyl</a:t>
            </a:r>
            <a:r>
              <a:rPr lang="en-US" sz="1100" dirty="0">
                <a:solidFill>
                  <a:srgbClr val="FFFFFF"/>
                </a:solidFill>
                <a:latin typeface="Calibri"/>
              </a:rPr>
              <a:t>itis</a:t>
            </a:r>
            <a:r>
              <a:rPr sz="1100" b="0" dirty="0">
                <a:solidFill>
                  <a:srgbClr val="FFFFFF"/>
                </a:solidFill>
                <a:latin typeface="Calibri"/>
              </a:rPr>
              <a:t>; sacroiliitis</a:t>
            </a:r>
          </a:p>
          <a:p>
            <a:pPr>
              <a:spcBef>
                <a:spcPts val="300"/>
              </a:spcBef>
              <a:spcAft>
                <a:spcPts val="100"/>
              </a:spcAft>
            </a:pPr>
            <a:r>
              <a:rPr sz="1100" b="0" dirty="0">
                <a:solidFill>
                  <a:srgbClr val="FFFFFF"/>
                </a:solidFill>
                <a:latin typeface="Calibri"/>
              </a:rPr>
              <a:t>vertebral / compression / osteoporotic fracture</a:t>
            </a:r>
          </a:p>
          <a:p>
            <a:pPr>
              <a:spcBef>
                <a:spcPts val="300"/>
              </a:spcBef>
              <a:spcAft>
                <a:spcPts val="100"/>
              </a:spcAft>
            </a:pPr>
            <a:r>
              <a:rPr sz="1100" b="0" dirty="0">
                <a:solidFill>
                  <a:srgbClr val="FFFFFF"/>
                </a:solidFill>
                <a:latin typeface="Calibri"/>
              </a:rPr>
              <a:t>epidural abscess</a:t>
            </a:r>
          </a:p>
          <a:p>
            <a:pPr>
              <a:spcBef>
                <a:spcPts val="300"/>
              </a:spcBef>
              <a:spcAft>
                <a:spcPts val="100"/>
              </a:spcAft>
            </a:pPr>
            <a:r>
              <a:rPr sz="1100" b="0" dirty="0">
                <a:solidFill>
                  <a:srgbClr val="FFFFFF"/>
                </a:solidFill>
                <a:latin typeface="Calibri"/>
              </a:rPr>
              <a:t>discitis / diskitis</a:t>
            </a:r>
          </a:p>
          <a:p>
            <a:pPr>
              <a:spcBef>
                <a:spcPts val="300"/>
              </a:spcBef>
              <a:spcAft>
                <a:spcPts val="100"/>
              </a:spcAft>
            </a:pPr>
            <a:r>
              <a:rPr sz="1100" b="0" dirty="0">
                <a:solidFill>
                  <a:srgbClr val="FFFFFF"/>
                </a:solidFill>
                <a:latin typeface="Calibri"/>
              </a:rPr>
              <a:t>spinal / vertebral / lumbar / spine osteomyelitis</a:t>
            </a:r>
          </a:p>
          <a:p>
            <a:pPr>
              <a:spcBef>
                <a:spcPts val="300"/>
              </a:spcBef>
              <a:spcAft>
                <a:spcPts val="100"/>
              </a:spcAft>
            </a:pPr>
            <a:r>
              <a:rPr sz="1100" b="0" dirty="0">
                <a:solidFill>
                  <a:srgbClr val="FFFFFF"/>
                </a:solidFill>
                <a:latin typeface="Calibri"/>
              </a:rPr>
              <a:t>spinal / vertebral / spine metasta</a:t>
            </a:r>
            <a:r>
              <a:rPr lang="en-US" sz="1100" dirty="0">
                <a:solidFill>
                  <a:srgbClr val="FFFFFF"/>
                </a:solidFill>
                <a:latin typeface="Calibri"/>
              </a:rPr>
              <a:t>ses</a:t>
            </a:r>
            <a:endParaRPr sz="1100" b="0" dirty="0">
              <a:solidFill>
                <a:srgbClr val="FFFFFF"/>
              </a:solidFill>
              <a:latin typeface="Calibri"/>
            </a:endParaRPr>
          </a:p>
          <a:p>
            <a:pPr>
              <a:spcBef>
                <a:spcPts val="300"/>
              </a:spcBef>
              <a:spcAft>
                <a:spcPts val="100"/>
              </a:spcAft>
            </a:pPr>
            <a:r>
              <a:rPr sz="1100" b="0" dirty="0">
                <a:solidFill>
                  <a:srgbClr val="FFFFFF"/>
                </a:solidFill>
                <a:latin typeface="Calibri"/>
              </a:rPr>
              <a:t>back pain</a:t>
            </a:r>
          </a:p>
        </p:txBody>
      </p:sp>
      <p:sp>
        <p:nvSpPr>
          <p:cNvPr id="9" name="TextBox 8"/>
          <p:cNvSpPr txBox="1"/>
          <p:nvPr/>
        </p:nvSpPr>
        <p:spPr>
          <a:xfrm>
            <a:off x="4425696" y="1207166"/>
            <a:ext cx="3538728" cy="3634328"/>
          </a:xfrm>
          <a:prstGeom prst="rect">
            <a:avLst/>
          </a:prstGeom>
          <a:noFill/>
        </p:spPr>
        <p:txBody>
          <a:bodyPr wrap="square">
            <a:spAutoFit/>
          </a:bodyPr>
          <a:lstStyle/>
          <a:p>
            <a:r>
              <a:rPr sz="1400" b="1" dirty="0">
                <a:solidFill>
                  <a:srgbClr val="4A9EFF"/>
                </a:solidFill>
                <a:latin typeface="Calibri"/>
              </a:rPr>
              <a:t>Stage 1</a:t>
            </a:r>
            <a:r>
              <a:rPr lang="en-US" sz="1400" b="1" dirty="0">
                <a:solidFill>
                  <a:srgbClr val="4A9EFF"/>
                </a:solidFill>
                <a:latin typeface="Calibri"/>
              </a:rPr>
              <a:t>a</a:t>
            </a:r>
            <a:r>
              <a:rPr sz="1400" b="1" dirty="0">
                <a:solidFill>
                  <a:srgbClr val="4A9EFF"/>
                </a:solidFill>
                <a:latin typeface="Calibri"/>
              </a:rPr>
              <a:t> </a:t>
            </a:r>
            <a:r>
              <a:rPr lang="en-US" sz="1400" b="1" dirty="0">
                <a:solidFill>
                  <a:srgbClr val="4A9EFF"/>
                </a:solidFill>
                <a:latin typeface="Calibri"/>
              </a:rPr>
              <a:t>keep — confounders</a:t>
            </a:r>
          </a:p>
          <a:p>
            <a:pPr>
              <a:spcBef>
                <a:spcPts val="300"/>
              </a:spcBef>
              <a:spcAft>
                <a:spcPts val="100"/>
              </a:spcAft>
            </a:pPr>
            <a:r>
              <a:rPr lang="en-US" sz="1100" b="1" dirty="0">
                <a:solidFill>
                  <a:srgbClr val="FFFFFF"/>
                </a:solidFill>
                <a:latin typeface="Calibri"/>
              </a:rPr>
              <a:t>KEEP </a:t>
            </a:r>
            <a:r>
              <a:rPr lang="en-US" sz="1100" b="1" dirty="0" err="1">
                <a:solidFill>
                  <a:srgbClr val="FFFFFF"/>
                </a:solidFill>
                <a:latin typeface="Calibri"/>
              </a:rPr>
              <a:t>confounder_aaa</a:t>
            </a:r>
            <a:r>
              <a:rPr lang="en-US" sz="1100" b="1" dirty="0">
                <a:solidFill>
                  <a:srgbClr val="FFFFFF"/>
                </a:solidFill>
                <a:latin typeface="Calibri"/>
              </a:rPr>
              <a:t>:</a:t>
            </a:r>
          </a:p>
          <a:p>
            <a:pPr>
              <a:spcBef>
                <a:spcPts val="300"/>
              </a:spcBef>
              <a:spcAft>
                <a:spcPts val="100"/>
              </a:spcAft>
            </a:pPr>
            <a:r>
              <a:rPr sz="1100" b="0" dirty="0">
                <a:solidFill>
                  <a:srgbClr val="FFFFFF"/>
                </a:solidFill>
                <a:latin typeface="Calibri"/>
              </a:rPr>
              <a:t>  aortic aneurysm; AAA</a:t>
            </a:r>
          </a:p>
          <a:p>
            <a:pPr>
              <a:spcBef>
                <a:spcPts val="300"/>
              </a:spcBef>
              <a:spcAft>
                <a:spcPts val="100"/>
              </a:spcAft>
            </a:pPr>
            <a:r>
              <a:rPr sz="1100" b="1" dirty="0">
                <a:solidFill>
                  <a:srgbClr val="FFFFFF"/>
                </a:solidFill>
                <a:latin typeface="Calibri"/>
              </a:rPr>
              <a:t>KEEP </a:t>
            </a:r>
            <a:r>
              <a:rPr sz="1100" b="1" dirty="0" err="1">
                <a:solidFill>
                  <a:srgbClr val="FFFFFF"/>
                </a:solidFill>
                <a:latin typeface="Calibri"/>
              </a:rPr>
              <a:t>confounder_dvt</a:t>
            </a:r>
            <a:r>
              <a:rPr sz="1100" b="1" dirty="0">
                <a:solidFill>
                  <a:srgbClr val="FFFFFF"/>
                </a:solidFill>
                <a:latin typeface="Calibri"/>
              </a:rPr>
              <a:t>:</a:t>
            </a:r>
          </a:p>
          <a:p>
            <a:pPr>
              <a:spcBef>
                <a:spcPts val="300"/>
              </a:spcBef>
              <a:spcAft>
                <a:spcPts val="100"/>
              </a:spcAft>
            </a:pPr>
            <a:r>
              <a:rPr sz="1100" b="0" dirty="0">
                <a:solidFill>
                  <a:srgbClr val="FFFFFF"/>
                </a:solidFill>
                <a:latin typeface="Calibri"/>
              </a:rPr>
              <a:t>  DVT; deep vein thrombosis</a:t>
            </a:r>
          </a:p>
          <a:p>
            <a:pPr>
              <a:spcBef>
                <a:spcPts val="300"/>
              </a:spcBef>
              <a:spcAft>
                <a:spcPts val="100"/>
              </a:spcAft>
            </a:pPr>
            <a:r>
              <a:rPr sz="1100" b="0" dirty="0">
                <a:solidFill>
                  <a:srgbClr val="FFFFFF"/>
                </a:solidFill>
                <a:latin typeface="Calibri"/>
              </a:rPr>
              <a:t>  deep venous thrombosis</a:t>
            </a:r>
          </a:p>
          <a:p>
            <a:pPr>
              <a:spcBef>
                <a:spcPts val="300"/>
              </a:spcBef>
              <a:spcAft>
                <a:spcPts val="100"/>
              </a:spcAft>
            </a:pPr>
            <a:r>
              <a:rPr sz="1100" b="1" dirty="0">
                <a:solidFill>
                  <a:srgbClr val="FFFFFF"/>
                </a:solidFill>
                <a:latin typeface="Calibri"/>
              </a:rPr>
              <a:t>KEEP </a:t>
            </a:r>
            <a:r>
              <a:rPr sz="1100" b="1" dirty="0" err="1">
                <a:solidFill>
                  <a:srgbClr val="FFFFFF"/>
                </a:solidFill>
                <a:latin typeface="Calibri"/>
              </a:rPr>
              <a:t>confounder_abscess</a:t>
            </a:r>
            <a:r>
              <a:rPr sz="1100" b="1" dirty="0">
                <a:solidFill>
                  <a:srgbClr val="FFFFFF"/>
                </a:solidFill>
                <a:latin typeface="Calibri"/>
              </a:rPr>
              <a:t>:</a:t>
            </a:r>
          </a:p>
          <a:p>
            <a:pPr>
              <a:spcBef>
                <a:spcPts val="300"/>
              </a:spcBef>
              <a:spcAft>
                <a:spcPts val="100"/>
              </a:spcAft>
            </a:pPr>
            <a:r>
              <a:rPr sz="1100" b="0" dirty="0">
                <a:solidFill>
                  <a:srgbClr val="FFFFFF"/>
                </a:solidFill>
                <a:latin typeface="Calibri"/>
              </a:rPr>
              <a:t>  IVDU / I.V. / intravenous / injection drug</a:t>
            </a:r>
          </a:p>
          <a:p>
            <a:pPr>
              <a:spcBef>
                <a:spcPts val="300"/>
              </a:spcBef>
              <a:spcAft>
                <a:spcPts val="100"/>
              </a:spcAft>
            </a:pPr>
            <a:r>
              <a:rPr lang="en-CA" sz="1100" b="0" dirty="0">
                <a:solidFill>
                  <a:srgbClr val="FFFFFF"/>
                </a:solidFill>
                <a:latin typeface="Calibri"/>
              </a:rPr>
              <a:t>    </a:t>
            </a:r>
            <a:r>
              <a:rPr sz="1100" b="0" dirty="0">
                <a:solidFill>
                  <a:srgbClr val="FFFFFF"/>
                </a:solidFill>
                <a:latin typeface="Calibri"/>
              </a:rPr>
              <a:t>near abscess, discitis, osteomyelitis,</a:t>
            </a:r>
          </a:p>
          <a:p>
            <a:pPr>
              <a:spcBef>
                <a:spcPts val="300"/>
              </a:spcBef>
              <a:spcAft>
                <a:spcPts val="100"/>
              </a:spcAft>
            </a:pPr>
            <a:r>
              <a:rPr sz="1100" b="0" dirty="0">
                <a:solidFill>
                  <a:srgbClr val="FFFFFF"/>
                </a:solidFill>
                <a:latin typeface="Calibri"/>
              </a:rPr>
              <a:t>    back pain, spine, spinal, or lumbar</a:t>
            </a:r>
          </a:p>
          <a:p>
            <a:pPr>
              <a:spcBef>
                <a:spcPts val="300"/>
              </a:spcBef>
              <a:spcAft>
                <a:spcPts val="100"/>
              </a:spcAft>
            </a:pPr>
            <a:r>
              <a:rPr sz="1100" b="0" dirty="0">
                <a:solidFill>
                  <a:srgbClr val="FFFFFF"/>
                </a:solidFill>
                <a:latin typeface="Calibri"/>
              </a:rPr>
              <a:t>  psoas / iliopsoas / paraspinal abscess</a:t>
            </a:r>
          </a:p>
          <a:p>
            <a:pPr>
              <a:spcBef>
                <a:spcPts val="300"/>
              </a:spcBef>
              <a:spcAft>
                <a:spcPts val="100"/>
              </a:spcAft>
            </a:pPr>
            <a:r>
              <a:rPr sz="1100" b="0" dirty="0">
                <a:solidFill>
                  <a:srgbClr val="FFFFFF"/>
                </a:solidFill>
                <a:latin typeface="Calibri"/>
              </a:rPr>
              <a:t>  spinal epidural abscess</a:t>
            </a:r>
          </a:p>
          <a:p>
            <a:pPr>
              <a:spcBef>
                <a:spcPts val="300"/>
              </a:spcBef>
              <a:spcAft>
                <a:spcPts val="100"/>
              </a:spcAft>
            </a:pPr>
            <a:endParaRPr lang="en-US" sz="1100" b="0" dirty="0">
              <a:solidFill>
                <a:srgbClr val="FFFFFF"/>
              </a:solidFill>
              <a:latin typeface="Calibri"/>
            </a:endParaRPr>
          </a:p>
          <a:p>
            <a:pPr>
              <a:spcBef>
                <a:spcPts val="300"/>
              </a:spcBef>
              <a:spcAft>
                <a:spcPts val="100"/>
              </a:spcAft>
            </a:pPr>
            <a:r>
              <a:rPr kumimoji="0" lang="en-CA" sz="1400" b="1" i="0" u="none" strike="noStrike" kern="1200" cap="none" spc="0" normalizeH="0" baseline="0" noProof="0" dirty="0">
                <a:ln>
                  <a:noFill/>
                </a:ln>
                <a:solidFill>
                  <a:srgbClr val="4A9EFF"/>
                </a:solidFill>
                <a:effectLst/>
                <a:uLnTx/>
                <a:uFillTx/>
                <a:latin typeface="Calibri"/>
                <a:ea typeface="+mn-ea"/>
                <a:cs typeface="+mn-cs"/>
              </a:rPr>
              <a:t>Stage 1b drop </a:t>
            </a:r>
            <a:r>
              <a:rPr kumimoji="0" lang="en-US" sz="1300" b="1" i="0" u="none" strike="noStrike" kern="1200" cap="none" spc="0" normalizeH="0" baseline="0" noProof="0" dirty="0">
                <a:ln>
                  <a:noFill/>
                </a:ln>
                <a:solidFill>
                  <a:srgbClr val="4A9EFF"/>
                </a:solidFill>
                <a:effectLst/>
                <a:uLnTx/>
                <a:uFillTx/>
                <a:latin typeface="Calibri"/>
                <a:ea typeface="+mn-ea"/>
                <a:cs typeface="+mn-cs"/>
              </a:rPr>
              <a:t>— lumbar puncture</a:t>
            </a:r>
            <a:endParaRPr sz="1200" b="0" dirty="0">
              <a:solidFill>
                <a:srgbClr val="FFFFFF"/>
              </a:solidFill>
              <a:latin typeface="Calibri"/>
            </a:endParaRPr>
          </a:p>
          <a:p>
            <a:pPr>
              <a:spcBef>
                <a:spcPts val="300"/>
              </a:spcBef>
              <a:spcAft>
                <a:spcPts val="100"/>
              </a:spcAft>
            </a:pPr>
            <a:r>
              <a:rPr sz="1100" b="1" dirty="0">
                <a:solidFill>
                  <a:srgbClr val="FFFFFF"/>
                </a:solidFill>
                <a:latin typeface="Calibri"/>
              </a:rPr>
              <a:t>DROP Stage 1b):</a:t>
            </a:r>
          </a:p>
          <a:p>
            <a:pPr>
              <a:spcBef>
                <a:spcPts val="300"/>
              </a:spcBef>
              <a:spcAft>
                <a:spcPts val="100"/>
              </a:spcAft>
            </a:pPr>
            <a:r>
              <a:rPr sz="1100" b="0" dirty="0">
                <a:solidFill>
                  <a:srgbClr val="FFFFFF"/>
                </a:solidFill>
                <a:latin typeface="Calibri"/>
              </a:rPr>
              <a:t>  lumbar puncture</a:t>
            </a:r>
            <a:r>
              <a:rPr lang="en-US" sz="1100" b="0" dirty="0">
                <a:solidFill>
                  <a:srgbClr val="FFFFFF"/>
                </a:solidFill>
                <a:latin typeface="Calibri"/>
              </a:rPr>
              <a:t> questions</a:t>
            </a:r>
            <a:endParaRPr sz="1100" b="0" dirty="0">
              <a:solidFill>
                <a:srgbClr val="FFFFFF"/>
              </a:solidFill>
              <a:latin typeface="Calibri"/>
            </a:endParaRPr>
          </a:p>
        </p:txBody>
      </p:sp>
      <p:sp>
        <p:nvSpPr>
          <p:cNvPr id="10" name="Rounded Rectangle 9"/>
          <p:cNvSpPr/>
          <p:nvPr/>
        </p:nvSpPr>
        <p:spPr>
          <a:xfrm>
            <a:off x="7843234" y="932688"/>
            <a:ext cx="3952526" cy="50749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2001" y="1207166"/>
            <a:ext cx="3310128" cy="3808735"/>
          </a:xfrm>
          <a:prstGeom prst="rect">
            <a:avLst/>
          </a:prstGeom>
          <a:noFill/>
        </p:spPr>
        <p:txBody>
          <a:bodyPr wrap="square">
            <a:spAutoFit/>
          </a:bodyPr>
          <a:lstStyle/>
          <a:p>
            <a:r>
              <a:rPr sz="1300" b="1" dirty="0">
                <a:solidFill>
                  <a:srgbClr val="4A9EFF"/>
                </a:solidFill>
                <a:latin typeface="Calibri"/>
              </a:rPr>
              <a:t>Stage 2</a:t>
            </a:r>
            <a:r>
              <a:rPr lang="en-US" sz="1300" b="1" dirty="0">
                <a:solidFill>
                  <a:srgbClr val="4A9EFF"/>
                </a:solidFill>
              </a:rPr>
              <a:t>a keep — vignette-style questions </a:t>
            </a:r>
            <a:endParaRPr lang="en-US" sz="1300" b="1" dirty="0">
              <a:solidFill>
                <a:srgbClr val="4A9EFF"/>
              </a:solidFill>
              <a:latin typeface="Calibri"/>
            </a:endParaRPr>
          </a:p>
          <a:p>
            <a:pPr>
              <a:spcBef>
                <a:spcPts val="300"/>
              </a:spcBef>
              <a:spcAft>
                <a:spcPts val="100"/>
              </a:spcAft>
            </a:pPr>
            <a:r>
              <a:rPr lang="en-US" sz="1100" b="1" dirty="0">
                <a:solidFill>
                  <a:srgbClr val="FFFFFF"/>
                </a:solidFill>
                <a:latin typeface="Calibri"/>
              </a:rPr>
              <a:t>KEEP vignette (both required):</a:t>
            </a:r>
          </a:p>
          <a:p>
            <a:pPr>
              <a:spcBef>
                <a:spcPts val="300"/>
              </a:spcBef>
              <a:spcAft>
                <a:spcPts val="100"/>
              </a:spcAft>
            </a:pPr>
            <a:r>
              <a:rPr sz="1100" b="0" dirty="0">
                <a:solidFill>
                  <a:srgbClr val="FFFFFF"/>
                </a:solidFill>
                <a:latin typeface="Calibri"/>
              </a:rPr>
              <a:t>  age: year-old, yr-old, </a:t>
            </a:r>
            <a:r>
              <a:rPr sz="1100" b="0" dirty="0" err="1">
                <a:solidFill>
                  <a:srgbClr val="FFFFFF"/>
                </a:solidFill>
                <a:latin typeface="Calibri"/>
              </a:rPr>
              <a:t>yo</a:t>
            </a:r>
            <a:r>
              <a:rPr sz="1100" b="0" dirty="0">
                <a:solidFill>
                  <a:srgbClr val="FFFFFF"/>
                </a:solidFill>
                <a:latin typeface="Calibri"/>
              </a:rPr>
              <a:t>, y/o,</a:t>
            </a:r>
          </a:p>
          <a:p>
            <a:pPr>
              <a:spcBef>
                <a:spcPts val="300"/>
              </a:spcBef>
              <a:spcAft>
                <a:spcPts val="100"/>
              </a:spcAft>
            </a:pPr>
            <a:r>
              <a:rPr sz="1100" b="0" dirty="0">
                <a:solidFill>
                  <a:srgbClr val="FFFFFF"/>
                </a:solidFill>
                <a:latin typeface="Calibri"/>
              </a:rPr>
              <a:t>    years of age</a:t>
            </a:r>
          </a:p>
          <a:p>
            <a:pPr>
              <a:spcBef>
                <a:spcPts val="300"/>
              </a:spcBef>
              <a:spcAft>
                <a:spcPts val="100"/>
              </a:spcAft>
            </a:pPr>
            <a:r>
              <a:rPr sz="1100" b="0" dirty="0">
                <a:solidFill>
                  <a:srgbClr val="FFFFFF"/>
                </a:solidFill>
                <a:latin typeface="Calibri"/>
              </a:rPr>
              <a:t>  presentation: presents, presented,</a:t>
            </a:r>
          </a:p>
          <a:p>
            <a:pPr>
              <a:spcBef>
                <a:spcPts val="300"/>
              </a:spcBef>
              <a:spcAft>
                <a:spcPts val="100"/>
              </a:spcAft>
            </a:pPr>
            <a:r>
              <a:rPr sz="1100" b="0" dirty="0">
                <a:solidFill>
                  <a:srgbClr val="FFFFFF"/>
                </a:solidFill>
                <a:latin typeface="Calibri"/>
              </a:rPr>
              <a:t>    presenting, complain(s/ed/</a:t>
            </a:r>
            <a:r>
              <a:rPr sz="1100" b="0" dirty="0" err="1">
                <a:solidFill>
                  <a:srgbClr val="FFFFFF"/>
                </a:solidFill>
                <a:latin typeface="Calibri"/>
              </a:rPr>
              <a:t>ing</a:t>
            </a:r>
            <a:r>
              <a:rPr sz="1100" b="0" dirty="0">
                <a:solidFill>
                  <a:srgbClr val="FFFFFF"/>
                </a:solidFill>
                <a:latin typeface="Calibri"/>
              </a:rPr>
              <a:t>),</a:t>
            </a:r>
          </a:p>
          <a:p>
            <a:pPr>
              <a:spcBef>
                <a:spcPts val="300"/>
              </a:spcBef>
              <a:spcAft>
                <a:spcPts val="100"/>
              </a:spcAft>
            </a:pPr>
            <a:r>
              <a:rPr sz="1100" b="0" dirty="0">
                <a:solidFill>
                  <a:srgbClr val="FFFFFF"/>
                </a:solidFill>
                <a:latin typeface="Calibri"/>
              </a:rPr>
              <a:t>    history of, comes to, brought to</a:t>
            </a:r>
            <a:endParaRPr lang="en-US" sz="1100" b="0" dirty="0">
              <a:solidFill>
                <a:srgbClr val="FFFFFF"/>
              </a:solidFill>
              <a:latin typeface="Calibri"/>
            </a:endParaRPr>
          </a:p>
          <a:p>
            <a:pPr>
              <a:spcBef>
                <a:spcPts val="300"/>
              </a:spcBef>
              <a:spcAft>
                <a:spcPts val="100"/>
              </a:spcAft>
            </a:pPr>
            <a:endParaRPr lang="en-US" sz="1100" dirty="0">
              <a:solidFill>
                <a:srgbClr val="FFFFFF"/>
              </a:solidFill>
              <a:latin typeface="Calibri"/>
            </a:endParaRPr>
          </a:p>
          <a:p>
            <a:pPr>
              <a:spcBef>
                <a:spcPts val="300"/>
              </a:spcBef>
              <a:spcAft>
                <a:spcPts val="100"/>
              </a:spcAft>
            </a:pPr>
            <a:r>
              <a:rPr kumimoji="0" lang="en-CA" sz="1300" b="1" i="0" u="none" strike="noStrike" kern="1200" cap="none" spc="0" normalizeH="0" baseline="0" noProof="0" dirty="0">
                <a:ln>
                  <a:noFill/>
                </a:ln>
                <a:solidFill>
                  <a:srgbClr val="4A9EFF"/>
                </a:solidFill>
                <a:effectLst/>
                <a:uLnTx/>
                <a:uFillTx/>
                <a:latin typeface="Calibri"/>
                <a:ea typeface="+mn-ea"/>
                <a:cs typeface="+mn-cs"/>
              </a:rPr>
              <a:t>Stage 2b drop </a:t>
            </a:r>
            <a:r>
              <a:rPr kumimoji="0" lang="en-US" sz="1300" b="1" i="0" u="none" strike="noStrike" kern="1200" cap="none" spc="0" normalizeH="0" baseline="0" noProof="0" dirty="0">
                <a:ln>
                  <a:noFill/>
                </a:ln>
                <a:solidFill>
                  <a:srgbClr val="4A9EFF"/>
                </a:solidFill>
                <a:effectLst/>
                <a:uLnTx/>
                <a:uFillTx/>
                <a:latin typeface="Calibri"/>
                <a:ea typeface="+mn-ea"/>
                <a:cs typeface="+mn-cs"/>
              </a:rPr>
              <a:t>— radiology/cervical questions</a:t>
            </a:r>
            <a:endParaRPr sz="1100" b="0" dirty="0">
              <a:solidFill>
                <a:srgbClr val="FFFFFF"/>
              </a:solidFill>
              <a:latin typeface="Calibri"/>
            </a:endParaRPr>
          </a:p>
          <a:p>
            <a:pPr>
              <a:spcBef>
                <a:spcPts val="300"/>
              </a:spcBef>
              <a:spcAft>
                <a:spcPts val="100"/>
              </a:spcAft>
            </a:pPr>
            <a:r>
              <a:rPr sz="1100" b="1" dirty="0">
                <a:solidFill>
                  <a:srgbClr val="FFFFFF"/>
                </a:solidFill>
                <a:latin typeface="Calibri"/>
              </a:rPr>
              <a:t>DROP radiology </a:t>
            </a:r>
            <a:r>
              <a:rPr lang="en-US" sz="1100" b="1" dirty="0">
                <a:solidFill>
                  <a:srgbClr val="FFFFFF"/>
                </a:solidFill>
                <a:latin typeface="Calibri"/>
              </a:rPr>
              <a:t>questions:</a:t>
            </a:r>
          </a:p>
          <a:p>
            <a:pPr>
              <a:spcBef>
                <a:spcPts val="300"/>
              </a:spcBef>
              <a:spcAft>
                <a:spcPts val="100"/>
              </a:spcAft>
            </a:pPr>
            <a:r>
              <a:rPr lang="en-US" sz="1100" b="0" dirty="0">
                <a:solidFill>
                  <a:srgbClr val="FFFFFF"/>
                </a:solidFill>
                <a:latin typeface="Calibri"/>
              </a:rPr>
              <a:t>  shown below/above; identify the sign;</a:t>
            </a:r>
          </a:p>
          <a:p>
            <a:pPr>
              <a:spcBef>
                <a:spcPts val="300"/>
              </a:spcBef>
              <a:spcAft>
                <a:spcPts val="100"/>
              </a:spcAft>
            </a:pPr>
            <a:r>
              <a:rPr sz="1100" b="0" dirty="0">
                <a:solidFill>
                  <a:srgbClr val="FFFFFF"/>
                </a:solidFill>
                <a:latin typeface="Calibri"/>
              </a:rPr>
              <a:t>  which image / radiograph / x-ray / MRI / CT</a:t>
            </a:r>
          </a:p>
          <a:p>
            <a:pPr>
              <a:spcBef>
                <a:spcPts val="300"/>
              </a:spcBef>
              <a:spcAft>
                <a:spcPts val="100"/>
              </a:spcAft>
            </a:pPr>
            <a:r>
              <a:rPr sz="1100" b="1" dirty="0">
                <a:solidFill>
                  <a:srgbClr val="FFFFFF"/>
                </a:solidFill>
                <a:latin typeface="Calibri"/>
              </a:rPr>
              <a:t>DROP cervical-only:</a:t>
            </a:r>
          </a:p>
          <a:p>
            <a:pPr>
              <a:spcBef>
                <a:spcPts val="300"/>
              </a:spcBef>
              <a:spcAft>
                <a:spcPts val="100"/>
              </a:spcAft>
            </a:pPr>
            <a:r>
              <a:rPr sz="1100" b="0" dirty="0">
                <a:solidFill>
                  <a:srgbClr val="FFFFFF"/>
                </a:solidFill>
                <a:latin typeface="Calibri"/>
              </a:rPr>
              <a:t>  cervical, neck pain, cervicalgia</a:t>
            </a:r>
          </a:p>
          <a:p>
            <a:pPr>
              <a:spcBef>
                <a:spcPts val="300"/>
              </a:spcBef>
              <a:spcAft>
                <a:spcPts val="100"/>
              </a:spcAft>
            </a:pPr>
            <a:r>
              <a:rPr sz="1100" b="0" dirty="0">
                <a:solidFill>
                  <a:srgbClr val="FFFFFF"/>
                </a:solidFill>
                <a:latin typeface="Calibri"/>
              </a:rPr>
              <a:t>  AND none of: lumbar, low(er) back,</a:t>
            </a:r>
          </a:p>
          <a:p>
            <a:pPr>
              <a:spcBef>
                <a:spcPts val="300"/>
              </a:spcBef>
              <a:spcAft>
                <a:spcPts val="100"/>
              </a:spcAft>
            </a:pPr>
            <a:r>
              <a:rPr sz="1100" b="0" dirty="0">
                <a:solidFill>
                  <a:srgbClr val="FFFFFF"/>
                </a:solidFill>
                <a:latin typeface="Calibri"/>
              </a:rPr>
              <a:t>  sciatic, lumbosacral, cauda equina,</a:t>
            </a:r>
          </a:p>
          <a:p>
            <a:pPr>
              <a:spcBef>
                <a:spcPts val="300"/>
              </a:spcBef>
              <a:spcAft>
                <a:spcPts val="100"/>
              </a:spcAft>
            </a:pPr>
            <a:r>
              <a:rPr sz="1100" b="0" dirty="0">
                <a:solidFill>
                  <a:srgbClr val="FFFFFF"/>
                </a:solidFill>
                <a:latin typeface="Calibri"/>
              </a:rPr>
              <a:t>  sacroiliac</a:t>
            </a:r>
          </a:p>
        </p:txBody>
      </p:sp>
      <p:sp>
        <p:nvSpPr>
          <p:cNvPr id="14" name="TextBox 13">
            <a:extLst>
              <a:ext uri="{FF2B5EF4-FFF2-40B4-BE49-F238E27FC236}">
                <a16:creationId xmlns:a16="http://schemas.microsoft.com/office/drawing/2014/main" id="{A1593756-4007-D7D7-4C42-E822A1E87733}"/>
              </a:ext>
            </a:extLst>
          </p:cNvPr>
          <p:cNvSpPr txBox="1"/>
          <p:nvPr/>
        </p:nvSpPr>
        <p:spPr>
          <a:xfrm>
            <a:off x="11256762" y="6510528"/>
            <a:ext cx="447558" cy="261610"/>
          </a:xfrm>
          <a:prstGeom prst="rect">
            <a:avLst/>
          </a:prstGeom>
          <a:noFill/>
        </p:spPr>
        <p:txBody>
          <a:bodyPr wrap="none">
            <a:spAutoFit/>
          </a:bodyPr>
          <a:lstStyle/>
          <a:p>
            <a:pPr algn="r"/>
            <a:r>
              <a:rPr lang="en-US" sz="1100" dirty="0">
                <a:solidFill>
                  <a:srgbClr val="C8CDD6"/>
                </a:solidFill>
                <a:latin typeface="Calibri"/>
              </a:rPr>
              <a:t>4</a:t>
            </a:r>
            <a:r>
              <a:rPr sz="1100" b="0" dirty="0">
                <a:solidFill>
                  <a:srgbClr val="C8CDD6"/>
                </a:solidFill>
                <a:latin typeface="Calibri"/>
              </a:rPr>
              <a:t> / </a:t>
            </a:r>
            <a:r>
              <a:rPr lang="en-US" sz="1100" b="0" dirty="0">
                <a:solidFill>
                  <a:srgbClr val="C8CDD6"/>
                </a:solidFill>
                <a:latin typeface="Calibri"/>
              </a:rPr>
              <a:t>7</a:t>
            </a:r>
            <a:endParaRPr sz="1100" b="0" dirty="0">
              <a:solidFill>
                <a:srgbClr val="C8CDD6"/>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
            <a:ext cx="11247120" cy="492443"/>
          </a:xfrm>
          <a:prstGeom prst="rect">
            <a:avLst/>
          </a:prstGeom>
          <a:noFill/>
        </p:spPr>
        <p:txBody>
          <a:bodyPr wrap="square">
            <a:spAutoFit/>
          </a:bodyPr>
          <a:lstStyle/>
          <a:p>
            <a:r>
              <a:rPr lang="en-US" sz="2600" b="1" dirty="0">
                <a:solidFill>
                  <a:srgbClr val="FFFFFF"/>
                </a:solidFill>
                <a:latin typeface="Calibri"/>
              </a:rPr>
              <a:t>Sampling Strategy</a:t>
            </a:r>
            <a:endParaRPr sz="2600" b="1" dirty="0">
              <a:solidFill>
                <a:srgbClr val="FFFFFF"/>
              </a:solidFill>
              <a:latin typeface="Calibri"/>
            </a:endParaRPr>
          </a:p>
        </p:txBody>
      </p:sp>
      <p:sp>
        <p:nvSpPr>
          <p:cNvPr id="5" name="Rectangle 4"/>
          <p:cNvSpPr/>
          <p:nvPr/>
        </p:nvSpPr>
        <p:spPr>
          <a:xfrm>
            <a:off x="457200" y="749808"/>
            <a:ext cx="2011680" cy="36576"/>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1891672" cy="276999"/>
          </a:xfrm>
          <a:prstGeom prst="rect">
            <a:avLst/>
          </a:prstGeom>
          <a:noFill/>
        </p:spPr>
        <p:txBody>
          <a:bodyPr wrap="none">
            <a:spAutoFit/>
          </a:bodyPr>
          <a:lstStyle/>
          <a:p>
            <a:r>
              <a:rPr sz="1200" b="1" dirty="0">
                <a:solidFill>
                  <a:srgbClr val="4A9EFF"/>
                </a:solidFill>
                <a:latin typeface="Calibri"/>
              </a:rPr>
              <a:t>Sampling / screening </a:t>
            </a:r>
            <a:r>
              <a:rPr lang="en-US" sz="1200" b="1" dirty="0">
                <a:solidFill>
                  <a:srgbClr val="4A9EFF"/>
                </a:solidFill>
                <a:latin typeface="Calibri"/>
              </a:rPr>
              <a:t>stage</a:t>
            </a:r>
            <a:endParaRPr sz="1200" b="1" dirty="0">
              <a:solidFill>
                <a:srgbClr val="4A9EFF"/>
              </a:solidFill>
              <a:latin typeface="Calibri"/>
            </a:endParaRPr>
          </a:p>
        </p:txBody>
      </p:sp>
      <p:sp>
        <p:nvSpPr>
          <p:cNvPr id="7" name="TextBox 6"/>
          <p:cNvSpPr txBox="1"/>
          <p:nvPr/>
        </p:nvSpPr>
        <p:spPr>
          <a:xfrm>
            <a:off x="7589520" y="914400"/>
            <a:ext cx="4114800" cy="256032"/>
          </a:xfrm>
          <a:prstGeom prst="rect">
            <a:avLst/>
          </a:prstGeom>
          <a:noFill/>
        </p:spPr>
        <p:txBody>
          <a:bodyPr wrap="none">
            <a:spAutoFit/>
          </a:bodyPr>
          <a:lstStyle/>
          <a:p>
            <a:r>
              <a:rPr sz="1200" b="1">
                <a:solidFill>
                  <a:srgbClr val="4A9EFF"/>
                </a:solidFill>
                <a:latin typeface="Calibri"/>
              </a:rPr>
              <a:t>N in → N out</a:t>
            </a:r>
          </a:p>
        </p:txBody>
      </p:sp>
      <p:sp>
        <p:nvSpPr>
          <p:cNvPr id="8" name="Rounded Rectangle 7"/>
          <p:cNvSpPr/>
          <p:nvPr/>
        </p:nvSpPr>
        <p:spPr>
          <a:xfrm>
            <a:off x="457200" y="1207008"/>
            <a:ext cx="6949440" cy="9601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3504" y="1298448"/>
            <a:ext cx="6656831" cy="528350"/>
          </a:xfrm>
          <a:prstGeom prst="rect">
            <a:avLst/>
          </a:prstGeom>
          <a:noFill/>
        </p:spPr>
        <p:txBody>
          <a:bodyPr wrap="square">
            <a:spAutoFit/>
          </a:bodyPr>
          <a:lstStyle/>
          <a:p>
            <a:r>
              <a:rPr sz="1300" b="1" dirty="0">
                <a:solidFill>
                  <a:srgbClr val="4A9EFF"/>
                </a:solidFill>
                <a:latin typeface="Calibri"/>
              </a:rPr>
              <a:t>0  Load + dedup</a:t>
            </a:r>
            <a:r>
              <a:rPr lang="en-US" sz="1300" b="1" dirty="0">
                <a:solidFill>
                  <a:srgbClr val="4A9EFF"/>
                </a:solidFill>
                <a:latin typeface="Calibri"/>
              </a:rPr>
              <a:t>licate</a:t>
            </a:r>
            <a:endParaRPr sz="1300" b="1" dirty="0">
              <a:solidFill>
                <a:srgbClr val="4A9EFF"/>
              </a:solidFill>
              <a:latin typeface="Calibri"/>
            </a:endParaRPr>
          </a:p>
          <a:p>
            <a:pPr>
              <a:spcBef>
                <a:spcPts val="400"/>
              </a:spcBef>
            </a:pPr>
            <a:r>
              <a:rPr lang="en-US" sz="1200" b="0" dirty="0">
                <a:solidFill>
                  <a:srgbClr val="FFFFFF"/>
                </a:solidFill>
                <a:latin typeface="Calibri"/>
              </a:rPr>
              <a:t>Load</a:t>
            </a:r>
            <a:r>
              <a:rPr sz="1200" b="0" dirty="0">
                <a:solidFill>
                  <a:srgbClr val="FFFFFF"/>
                </a:solidFill>
                <a:latin typeface="Calibri"/>
              </a:rPr>
              <a:t> </a:t>
            </a:r>
            <a:r>
              <a:rPr sz="1200" b="0" dirty="0" err="1">
                <a:solidFill>
                  <a:srgbClr val="FFFFFF"/>
                </a:solidFill>
                <a:latin typeface="Calibri"/>
              </a:rPr>
              <a:t>train+val+test</a:t>
            </a:r>
            <a:r>
              <a:rPr sz="1200" b="0" dirty="0">
                <a:solidFill>
                  <a:srgbClr val="FFFFFF"/>
                </a:solidFill>
                <a:latin typeface="Calibri"/>
              </a:rPr>
              <a:t> JSON</a:t>
            </a:r>
            <a:r>
              <a:rPr lang="en-US" sz="1200" b="0" dirty="0">
                <a:solidFill>
                  <a:srgbClr val="FFFFFF"/>
                </a:solidFill>
                <a:latin typeface="Calibri"/>
              </a:rPr>
              <a:t> from HF</a:t>
            </a:r>
            <a:r>
              <a:rPr sz="1200" b="0" dirty="0">
                <a:solidFill>
                  <a:srgbClr val="FFFFFF"/>
                </a:solidFill>
                <a:latin typeface="Calibri"/>
              </a:rPr>
              <a:t>. Dedup</a:t>
            </a:r>
            <a:r>
              <a:rPr lang="en-US" sz="1200" b="0" dirty="0">
                <a:solidFill>
                  <a:srgbClr val="FFFFFF"/>
                </a:solidFill>
                <a:latin typeface="Calibri"/>
              </a:rPr>
              <a:t>licate</a:t>
            </a:r>
            <a:r>
              <a:rPr sz="1200" b="0" dirty="0">
                <a:solidFill>
                  <a:srgbClr val="FFFFFF"/>
                </a:solidFill>
                <a:latin typeface="Calibri"/>
              </a:rPr>
              <a:t> by question stem.</a:t>
            </a:r>
          </a:p>
        </p:txBody>
      </p:sp>
      <p:sp>
        <p:nvSpPr>
          <p:cNvPr id="10" name="Rounded Rectangle 9"/>
          <p:cNvSpPr/>
          <p:nvPr/>
        </p:nvSpPr>
        <p:spPr>
          <a:xfrm>
            <a:off x="7543800" y="1207008"/>
            <a:ext cx="4160520" cy="9601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0104" y="1298448"/>
            <a:ext cx="3867911" cy="574516"/>
          </a:xfrm>
          <a:prstGeom prst="rect">
            <a:avLst/>
          </a:prstGeom>
          <a:noFill/>
        </p:spPr>
        <p:txBody>
          <a:bodyPr wrap="square">
            <a:spAutoFit/>
          </a:bodyPr>
          <a:lstStyle/>
          <a:p>
            <a:r>
              <a:rPr sz="1600" b="1" dirty="0">
                <a:solidFill>
                  <a:srgbClr val="4A9EFF"/>
                </a:solidFill>
                <a:latin typeface="Calibri"/>
              </a:rPr>
              <a:t>12,723 → 12,721</a:t>
            </a:r>
          </a:p>
          <a:p>
            <a:pPr>
              <a:spcBef>
                <a:spcPts val="400"/>
              </a:spcBef>
            </a:pPr>
            <a:r>
              <a:rPr sz="1200" b="0" dirty="0">
                <a:solidFill>
                  <a:srgbClr val="FFFFFF"/>
                </a:solidFill>
                <a:latin typeface="Calibri"/>
              </a:rPr>
              <a:t>2 duplicate </a:t>
            </a:r>
            <a:r>
              <a:rPr lang="en-US" sz="1200" b="0" dirty="0">
                <a:solidFill>
                  <a:srgbClr val="FFFFFF"/>
                </a:solidFill>
                <a:latin typeface="Calibri"/>
              </a:rPr>
              <a:t>questions</a:t>
            </a:r>
            <a:endParaRPr sz="1200" b="0" dirty="0">
              <a:solidFill>
                <a:srgbClr val="FFFFFF"/>
              </a:solidFill>
              <a:latin typeface="Calibri"/>
            </a:endParaRPr>
          </a:p>
        </p:txBody>
      </p:sp>
      <p:sp>
        <p:nvSpPr>
          <p:cNvPr id="12" name="Rounded Rectangle 11"/>
          <p:cNvSpPr/>
          <p:nvPr/>
        </p:nvSpPr>
        <p:spPr>
          <a:xfrm>
            <a:off x="457200" y="2231136"/>
            <a:ext cx="6949440" cy="9601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504" y="2322576"/>
            <a:ext cx="6656831" cy="764312"/>
          </a:xfrm>
          <a:prstGeom prst="rect">
            <a:avLst/>
          </a:prstGeom>
          <a:noFill/>
        </p:spPr>
        <p:txBody>
          <a:bodyPr wrap="square">
            <a:spAutoFit/>
          </a:bodyPr>
          <a:lstStyle/>
          <a:p>
            <a:r>
              <a:rPr sz="1300" b="1" dirty="0">
                <a:solidFill>
                  <a:srgbClr val="4A9EFF"/>
                </a:solidFill>
                <a:latin typeface="Calibri"/>
              </a:rPr>
              <a:t>1  </a:t>
            </a:r>
            <a:r>
              <a:rPr lang="en-US" sz="1300" b="1" dirty="0">
                <a:solidFill>
                  <a:srgbClr val="4A9EFF"/>
                </a:solidFill>
                <a:latin typeface="Calibri"/>
              </a:rPr>
              <a:t>Keep only lexical hits</a:t>
            </a:r>
            <a:endParaRPr lang="en-CA" sz="1300" b="1" dirty="0">
              <a:solidFill>
                <a:srgbClr val="4A9EFF"/>
              </a:solidFill>
              <a:latin typeface="Calibri"/>
            </a:endParaRPr>
          </a:p>
          <a:p>
            <a:pPr>
              <a:spcBef>
                <a:spcPts val="400"/>
              </a:spcBef>
            </a:pPr>
            <a:r>
              <a:rPr lang="en-CA" sz="1200" b="0" dirty="0">
                <a:solidFill>
                  <a:srgbClr val="FFFFFF"/>
                </a:solidFill>
                <a:latin typeface="Calibri"/>
              </a:rPr>
              <a:t>LBP / sciatica / red-flag terms + AAA, DVT, IVDU–spinal/psoas abscess. </a:t>
            </a:r>
          </a:p>
          <a:p>
            <a:pPr>
              <a:spcBef>
                <a:spcPts val="400"/>
              </a:spcBef>
            </a:pPr>
            <a:r>
              <a:rPr sz="1200" b="0" dirty="0">
                <a:solidFill>
                  <a:srgbClr val="FFFFFF"/>
                </a:solidFill>
                <a:latin typeface="Calibri"/>
              </a:rPr>
              <a:t>Drop </a:t>
            </a:r>
            <a:r>
              <a:rPr lang="en-US" sz="1200" b="0" dirty="0">
                <a:solidFill>
                  <a:srgbClr val="FFFFFF"/>
                </a:solidFill>
                <a:latin typeface="Calibri"/>
              </a:rPr>
              <a:t>questions about </a:t>
            </a:r>
            <a:r>
              <a:rPr sz="1200" b="0" dirty="0">
                <a:solidFill>
                  <a:srgbClr val="FFFFFF"/>
                </a:solidFill>
                <a:latin typeface="Calibri"/>
              </a:rPr>
              <a:t>lumbar-puncture</a:t>
            </a:r>
            <a:r>
              <a:rPr lang="en-US" sz="1200" b="0" dirty="0">
                <a:solidFill>
                  <a:srgbClr val="FFFFFF"/>
                </a:solidFill>
                <a:latin typeface="Calibri"/>
              </a:rPr>
              <a:t> procedure</a:t>
            </a:r>
            <a:r>
              <a:rPr sz="1200" b="0" dirty="0">
                <a:solidFill>
                  <a:srgbClr val="FFFFFF"/>
                </a:solidFill>
                <a:latin typeface="Calibri"/>
              </a:rPr>
              <a:t>.</a:t>
            </a:r>
          </a:p>
        </p:txBody>
      </p:sp>
      <p:sp>
        <p:nvSpPr>
          <p:cNvPr id="14" name="Rounded Rectangle 13"/>
          <p:cNvSpPr/>
          <p:nvPr/>
        </p:nvSpPr>
        <p:spPr>
          <a:xfrm>
            <a:off x="7543800" y="2231136"/>
            <a:ext cx="4160520" cy="9601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0104" y="2322576"/>
            <a:ext cx="3867911" cy="574516"/>
          </a:xfrm>
          <a:prstGeom prst="rect">
            <a:avLst/>
          </a:prstGeom>
          <a:noFill/>
        </p:spPr>
        <p:txBody>
          <a:bodyPr wrap="square">
            <a:spAutoFit/>
          </a:bodyPr>
          <a:lstStyle/>
          <a:p>
            <a:r>
              <a:rPr sz="1600" b="1" dirty="0">
                <a:solidFill>
                  <a:srgbClr val="4A9EFF"/>
                </a:solidFill>
                <a:latin typeface="Calibri"/>
              </a:rPr>
              <a:t>12,721 → 440</a:t>
            </a:r>
          </a:p>
          <a:p>
            <a:pPr>
              <a:spcBef>
                <a:spcPts val="400"/>
              </a:spcBef>
            </a:pPr>
            <a:r>
              <a:rPr sz="1200" b="0" dirty="0">
                <a:solidFill>
                  <a:srgbClr val="FFFFFF"/>
                </a:solidFill>
                <a:latin typeface="Calibri"/>
              </a:rPr>
              <a:t>12,167 no hit; 114 </a:t>
            </a:r>
            <a:r>
              <a:rPr lang="en-US" sz="1200" b="0" dirty="0">
                <a:solidFill>
                  <a:srgbClr val="FFFFFF"/>
                </a:solidFill>
                <a:latin typeface="Calibri"/>
              </a:rPr>
              <a:t>questions about lumbar </a:t>
            </a:r>
            <a:r>
              <a:rPr sz="1200" b="0" dirty="0">
                <a:solidFill>
                  <a:srgbClr val="FFFFFF"/>
                </a:solidFill>
                <a:latin typeface="Calibri"/>
              </a:rPr>
              <a:t>puncture</a:t>
            </a:r>
          </a:p>
        </p:txBody>
      </p:sp>
      <p:sp>
        <p:nvSpPr>
          <p:cNvPr id="16" name="Rounded Rectangle 15"/>
          <p:cNvSpPr/>
          <p:nvPr/>
        </p:nvSpPr>
        <p:spPr>
          <a:xfrm>
            <a:off x="457200" y="3255264"/>
            <a:ext cx="6949440" cy="9601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3504" y="3346704"/>
            <a:ext cx="6656831" cy="713016"/>
          </a:xfrm>
          <a:prstGeom prst="rect">
            <a:avLst/>
          </a:prstGeom>
          <a:noFill/>
        </p:spPr>
        <p:txBody>
          <a:bodyPr wrap="square">
            <a:spAutoFit/>
          </a:bodyPr>
          <a:lstStyle/>
          <a:p>
            <a:r>
              <a:rPr sz="1300" b="1" dirty="0">
                <a:solidFill>
                  <a:srgbClr val="4A9EFF"/>
                </a:solidFill>
                <a:latin typeface="Calibri"/>
              </a:rPr>
              <a:t>2  </a:t>
            </a:r>
            <a:r>
              <a:rPr lang="en-US" sz="1300" b="1" dirty="0">
                <a:solidFill>
                  <a:srgbClr val="4A9EFF"/>
                </a:solidFill>
                <a:latin typeface="Calibri"/>
              </a:rPr>
              <a:t>Keep only v</a:t>
            </a:r>
            <a:r>
              <a:rPr sz="1300" b="1" dirty="0">
                <a:solidFill>
                  <a:srgbClr val="4A9EFF"/>
                </a:solidFill>
                <a:latin typeface="Calibri"/>
              </a:rPr>
              <a:t>ignette</a:t>
            </a:r>
            <a:r>
              <a:rPr lang="en-US" sz="1300" b="1" dirty="0">
                <a:solidFill>
                  <a:srgbClr val="4A9EFF"/>
                </a:solidFill>
                <a:latin typeface="Calibri"/>
              </a:rPr>
              <a:t>-style questions</a:t>
            </a:r>
            <a:endParaRPr sz="1300" b="1" dirty="0">
              <a:solidFill>
                <a:srgbClr val="4A9EFF"/>
              </a:solidFill>
              <a:latin typeface="Calibri"/>
            </a:endParaRPr>
          </a:p>
          <a:p>
            <a:pPr>
              <a:spcBef>
                <a:spcPts val="400"/>
              </a:spcBef>
            </a:pPr>
            <a:r>
              <a:rPr sz="1200" b="0" dirty="0">
                <a:solidFill>
                  <a:srgbClr val="FFFFFF"/>
                </a:solidFill>
                <a:latin typeface="Calibri"/>
              </a:rPr>
              <a:t>Keep if age (year-old / </a:t>
            </a:r>
            <a:r>
              <a:rPr sz="1200" b="0" dirty="0" err="1">
                <a:solidFill>
                  <a:srgbClr val="FFFFFF"/>
                </a:solidFill>
                <a:latin typeface="Calibri"/>
              </a:rPr>
              <a:t>yo</a:t>
            </a:r>
            <a:r>
              <a:rPr sz="1200" b="0" dirty="0">
                <a:solidFill>
                  <a:srgbClr val="FFFFFF"/>
                </a:solidFill>
                <a:latin typeface="Calibri"/>
              </a:rPr>
              <a:t> / y/o) AND presentation (presents / complains / history of…)</a:t>
            </a:r>
            <a:r>
              <a:rPr lang="en-US" sz="1200" b="0" dirty="0">
                <a:solidFill>
                  <a:srgbClr val="FFFFFF"/>
                </a:solidFill>
                <a:latin typeface="Calibri"/>
              </a:rPr>
              <a:t> terms are found.</a:t>
            </a:r>
            <a:r>
              <a:rPr sz="1200" b="0" dirty="0">
                <a:solidFill>
                  <a:srgbClr val="FFFFFF"/>
                </a:solidFill>
                <a:latin typeface="Calibri"/>
              </a:rPr>
              <a:t> Drop isolated radiology </a:t>
            </a:r>
            <a:r>
              <a:rPr lang="en-US" sz="1200" b="0" dirty="0">
                <a:solidFill>
                  <a:srgbClr val="FFFFFF"/>
                </a:solidFill>
                <a:latin typeface="Calibri"/>
              </a:rPr>
              <a:t>questions</a:t>
            </a:r>
            <a:r>
              <a:rPr sz="1200" b="0" dirty="0">
                <a:solidFill>
                  <a:srgbClr val="FFFFFF"/>
                </a:solidFill>
                <a:latin typeface="Calibri"/>
              </a:rPr>
              <a:t>.</a:t>
            </a:r>
            <a:r>
              <a:rPr lang="en-US" sz="1200" b="0" dirty="0">
                <a:solidFill>
                  <a:srgbClr val="FFFFFF"/>
                </a:solidFill>
                <a:latin typeface="Calibri"/>
              </a:rPr>
              <a:t> </a:t>
            </a:r>
            <a:r>
              <a:rPr lang="en-US" sz="1200" dirty="0">
                <a:solidFill>
                  <a:srgbClr val="FFFFFF"/>
                </a:solidFill>
              </a:rPr>
              <a:t>Drop neck/cervical pain questions with no lumbar-region terms.</a:t>
            </a:r>
            <a:endParaRPr sz="1200" b="0" dirty="0">
              <a:solidFill>
                <a:srgbClr val="FFFFFF"/>
              </a:solidFill>
              <a:latin typeface="Calibri"/>
            </a:endParaRPr>
          </a:p>
        </p:txBody>
      </p:sp>
      <p:sp>
        <p:nvSpPr>
          <p:cNvPr id="18" name="Rounded Rectangle 17"/>
          <p:cNvSpPr/>
          <p:nvPr/>
        </p:nvSpPr>
        <p:spPr>
          <a:xfrm>
            <a:off x="7543800" y="3255264"/>
            <a:ext cx="4160520" cy="96012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0104" y="3346704"/>
            <a:ext cx="3867911" cy="995144"/>
          </a:xfrm>
          <a:prstGeom prst="rect">
            <a:avLst/>
          </a:prstGeom>
          <a:noFill/>
        </p:spPr>
        <p:txBody>
          <a:bodyPr wrap="square">
            <a:spAutoFit/>
          </a:bodyPr>
          <a:lstStyle/>
          <a:p>
            <a:r>
              <a:rPr sz="1600" b="1" dirty="0">
                <a:solidFill>
                  <a:srgbClr val="4A9EFF"/>
                </a:solidFill>
                <a:latin typeface="Calibri"/>
              </a:rPr>
              <a:t>440 → </a:t>
            </a:r>
            <a:r>
              <a:rPr lang="en-US" sz="1600" b="1" dirty="0">
                <a:solidFill>
                  <a:srgbClr val="4A9EFF"/>
                </a:solidFill>
                <a:latin typeface="Calibri"/>
              </a:rPr>
              <a:t>399</a:t>
            </a:r>
            <a:endParaRPr sz="1600" b="1" dirty="0">
              <a:solidFill>
                <a:srgbClr val="4A9EFF"/>
              </a:solidFill>
              <a:latin typeface="Calibri"/>
            </a:endParaRPr>
          </a:p>
          <a:p>
            <a:pPr>
              <a:spcBef>
                <a:spcPts val="400"/>
              </a:spcBef>
            </a:pPr>
            <a:r>
              <a:rPr lang="en-US" sz="1200" b="0" dirty="0">
                <a:solidFill>
                  <a:srgbClr val="FFFFFF"/>
                </a:solidFill>
                <a:latin typeface="Calibri"/>
              </a:rPr>
              <a:t>1 radiology question</a:t>
            </a:r>
            <a:r>
              <a:rPr sz="1200" b="0" dirty="0">
                <a:solidFill>
                  <a:srgbClr val="FFFFFF"/>
                </a:solidFill>
                <a:latin typeface="Calibri"/>
              </a:rPr>
              <a:t>, </a:t>
            </a:r>
            <a:r>
              <a:rPr lang="en-US" sz="1200" b="0" dirty="0">
                <a:solidFill>
                  <a:srgbClr val="FFFFFF"/>
                </a:solidFill>
                <a:latin typeface="Calibri"/>
              </a:rPr>
              <a:t>8 questions without age</a:t>
            </a:r>
            <a:r>
              <a:rPr sz="1200" b="0" dirty="0">
                <a:solidFill>
                  <a:srgbClr val="FFFFFF"/>
                </a:solidFill>
                <a:latin typeface="Calibri"/>
              </a:rPr>
              <a:t>, </a:t>
            </a:r>
            <a:r>
              <a:rPr lang="en-US" sz="1200" b="0" dirty="0">
                <a:solidFill>
                  <a:srgbClr val="FFFFFF"/>
                </a:solidFill>
                <a:latin typeface="Calibri"/>
              </a:rPr>
              <a:t>25 questions with no presentation cue,</a:t>
            </a:r>
            <a:r>
              <a:rPr lang="en-CA" sz="1200" dirty="0">
                <a:solidFill>
                  <a:srgbClr val="FFFFFF"/>
                </a:solidFill>
              </a:rPr>
              <a:t> 7 cervical-only questions</a:t>
            </a:r>
          </a:p>
          <a:p>
            <a:pPr>
              <a:spcBef>
                <a:spcPts val="400"/>
              </a:spcBef>
            </a:pPr>
            <a:endParaRPr sz="1200" b="0" dirty="0">
              <a:solidFill>
                <a:srgbClr val="FFFFFF"/>
              </a:solidFill>
              <a:latin typeface="Calibri"/>
            </a:endParaRPr>
          </a:p>
        </p:txBody>
      </p:sp>
      <p:sp>
        <p:nvSpPr>
          <p:cNvPr id="24" name="Rounded Rectangle 23"/>
          <p:cNvSpPr/>
          <p:nvPr/>
        </p:nvSpPr>
        <p:spPr>
          <a:xfrm>
            <a:off x="457200" y="4322542"/>
            <a:ext cx="6949440" cy="119129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3504" y="4409478"/>
            <a:ext cx="6656831" cy="948978"/>
          </a:xfrm>
          <a:prstGeom prst="rect">
            <a:avLst/>
          </a:prstGeom>
          <a:noFill/>
        </p:spPr>
        <p:txBody>
          <a:bodyPr wrap="square">
            <a:spAutoFit/>
          </a:bodyPr>
          <a:lstStyle/>
          <a:p>
            <a:r>
              <a:rPr sz="1300" b="1" dirty="0">
                <a:solidFill>
                  <a:srgbClr val="4A9EFF"/>
                </a:solidFill>
                <a:latin typeface="Calibri"/>
              </a:rPr>
              <a:t>3  </a:t>
            </a:r>
            <a:r>
              <a:rPr lang="en-US" sz="1300" b="1" dirty="0">
                <a:solidFill>
                  <a:srgbClr val="4A9EFF"/>
                </a:solidFill>
                <a:latin typeface="Calibri"/>
              </a:rPr>
              <a:t>SME validation</a:t>
            </a:r>
          </a:p>
          <a:p>
            <a:pPr>
              <a:spcBef>
                <a:spcPts val="400"/>
              </a:spcBef>
            </a:pPr>
            <a:r>
              <a:rPr lang="en-US" sz="1200" b="0" dirty="0">
                <a:solidFill>
                  <a:srgbClr val="FFFFFF"/>
                </a:solidFill>
                <a:latin typeface="Calibri"/>
              </a:rPr>
              <a:t>To determine whether the vignettes are relevant to our domain (include/exclude) and to set the correct disposition label </a:t>
            </a:r>
          </a:p>
          <a:p>
            <a:pPr>
              <a:spcBef>
                <a:spcPts val="400"/>
              </a:spcBef>
            </a:pPr>
            <a:r>
              <a:rPr lang="en-US" sz="1200" b="0" dirty="0">
                <a:solidFill>
                  <a:srgbClr val="FFFFFF"/>
                </a:solidFill>
                <a:latin typeface="Calibri"/>
              </a:rPr>
              <a:t>Empty cells in OSCE = unknown.</a:t>
            </a:r>
          </a:p>
        </p:txBody>
      </p:sp>
      <p:sp>
        <p:nvSpPr>
          <p:cNvPr id="26" name="Rounded Rectangle 25"/>
          <p:cNvSpPr/>
          <p:nvPr/>
        </p:nvSpPr>
        <p:spPr>
          <a:xfrm>
            <a:off x="7543799" y="4339054"/>
            <a:ext cx="4160520" cy="1174778"/>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56762" y="6510528"/>
            <a:ext cx="447558" cy="261610"/>
          </a:xfrm>
          <a:prstGeom prst="rect">
            <a:avLst/>
          </a:prstGeom>
          <a:noFill/>
        </p:spPr>
        <p:txBody>
          <a:bodyPr wrap="none">
            <a:spAutoFit/>
          </a:bodyPr>
          <a:lstStyle/>
          <a:p>
            <a:pPr algn="r"/>
            <a:r>
              <a:rPr lang="en-US" sz="1100" b="0" dirty="0">
                <a:solidFill>
                  <a:srgbClr val="C8CDD6"/>
                </a:solidFill>
                <a:latin typeface="Calibri"/>
              </a:rPr>
              <a:t>5</a:t>
            </a:r>
            <a:r>
              <a:rPr sz="1100" b="0" dirty="0">
                <a:solidFill>
                  <a:srgbClr val="C8CDD6"/>
                </a:solidFill>
                <a:latin typeface="Calibri"/>
              </a:rPr>
              <a:t> / </a:t>
            </a:r>
            <a:r>
              <a:rPr lang="en-US" sz="1100" b="0" dirty="0">
                <a:solidFill>
                  <a:srgbClr val="C8CDD6"/>
                </a:solidFill>
                <a:latin typeface="Calibri"/>
              </a:rPr>
              <a:t>7</a:t>
            </a:r>
            <a:endParaRPr sz="1100" b="0" dirty="0">
              <a:solidFill>
                <a:srgbClr val="C8CDD6"/>
              </a:solidFill>
              <a:latin typeface="Calibri"/>
            </a:endParaRPr>
          </a:p>
        </p:txBody>
      </p:sp>
      <p:sp>
        <p:nvSpPr>
          <p:cNvPr id="31" name="TextBox 30">
            <a:extLst>
              <a:ext uri="{FF2B5EF4-FFF2-40B4-BE49-F238E27FC236}">
                <a16:creationId xmlns:a16="http://schemas.microsoft.com/office/drawing/2014/main" id="{76A3562D-7A51-99E9-D91B-38A7731EF156}"/>
              </a:ext>
            </a:extLst>
          </p:cNvPr>
          <p:cNvSpPr txBox="1"/>
          <p:nvPr/>
        </p:nvSpPr>
        <p:spPr>
          <a:xfrm>
            <a:off x="7690103" y="4409478"/>
            <a:ext cx="3867911" cy="1179810"/>
          </a:xfrm>
          <a:prstGeom prst="rect">
            <a:avLst/>
          </a:prstGeom>
          <a:noFill/>
        </p:spPr>
        <p:txBody>
          <a:bodyPr wrap="square">
            <a:spAutoFit/>
          </a:bodyPr>
          <a:lstStyle/>
          <a:p>
            <a:r>
              <a:rPr lang="en-US" sz="1600" b="1" dirty="0">
                <a:solidFill>
                  <a:srgbClr val="4A9EFF"/>
                </a:solidFill>
                <a:latin typeface="Calibri"/>
              </a:rPr>
              <a:t>399</a:t>
            </a:r>
            <a:r>
              <a:rPr sz="1600" b="1" dirty="0">
                <a:solidFill>
                  <a:srgbClr val="4A9EFF"/>
                </a:solidFill>
                <a:latin typeface="Calibri"/>
              </a:rPr>
              <a:t> → </a:t>
            </a:r>
            <a:r>
              <a:rPr lang="en-US" sz="1600" b="1" dirty="0">
                <a:solidFill>
                  <a:srgbClr val="4A9EFF"/>
                </a:solidFill>
                <a:latin typeface="Calibri"/>
              </a:rPr>
              <a:t>_X_ </a:t>
            </a:r>
            <a:r>
              <a:rPr lang="en-US" sz="1600" b="1" dirty="0">
                <a:solidFill>
                  <a:srgbClr val="4A9EFF"/>
                </a:solidFill>
                <a:latin typeface="Calibri"/>
                <a:sym typeface="Wingdings" panose="05000000000000000000" pitchFamily="2" charset="2"/>
              </a:rPr>
              <a:t> 12</a:t>
            </a:r>
            <a:endParaRPr sz="1600" b="1" dirty="0">
              <a:solidFill>
                <a:srgbClr val="4A9EFF"/>
              </a:solidFill>
              <a:latin typeface="Calibri"/>
            </a:endParaRPr>
          </a:p>
          <a:p>
            <a:pPr>
              <a:spcBef>
                <a:spcPts val="400"/>
              </a:spcBef>
            </a:pPr>
            <a:r>
              <a:rPr lang="en-US" sz="1200" b="0" dirty="0">
                <a:solidFill>
                  <a:srgbClr val="FFFFFF"/>
                </a:solidFill>
                <a:latin typeface="Calibri"/>
              </a:rPr>
              <a:t>X is a dataset of LBP vignettes that can be used for chatbot testing. 12 is the frozen set for survey validation study (purposively selected from X)</a:t>
            </a:r>
            <a:endParaRPr lang="en-CA" sz="1200" dirty="0">
              <a:solidFill>
                <a:srgbClr val="FFFFFF"/>
              </a:solidFill>
            </a:endParaRPr>
          </a:p>
          <a:p>
            <a:pPr>
              <a:spcBef>
                <a:spcPts val="400"/>
              </a:spcBef>
            </a:pPr>
            <a:endParaRPr sz="1200" b="0" dirty="0">
              <a:solidFill>
                <a:srgbClr val="FFFFFF"/>
              </a:solidFill>
              <a:latin typeface="Calibri"/>
            </a:endParaRPr>
          </a:p>
        </p:txBody>
      </p:sp>
      <p:sp>
        <p:nvSpPr>
          <p:cNvPr id="33" name="Rounded Rectangle 23">
            <a:extLst>
              <a:ext uri="{FF2B5EF4-FFF2-40B4-BE49-F238E27FC236}">
                <a16:creationId xmlns:a16="http://schemas.microsoft.com/office/drawing/2014/main" id="{8F3C2C21-47AC-9CBD-273C-C9E511EC3D19}"/>
              </a:ext>
            </a:extLst>
          </p:cNvPr>
          <p:cNvSpPr/>
          <p:nvPr/>
        </p:nvSpPr>
        <p:spPr>
          <a:xfrm>
            <a:off x="2606040" y="5644116"/>
            <a:ext cx="6949440" cy="790956"/>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EEDB8420-3487-6673-0E74-193E30B8F1E2}"/>
              </a:ext>
            </a:extLst>
          </p:cNvPr>
          <p:cNvSpPr txBox="1"/>
          <p:nvPr/>
        </p:nvSpPr>
        <p:spPr>
          <a:xfrm>
            <a:off x="2767431" y="5751346"/>
            <a:ext cx="6656831" cy="528350"/>
          </a:xfrm>
          <a:prstGeom prst="rect">
            <a:avLst/>
          </a:prstGeom>
          <a:noFill/>
        </p:spPr>
        <p:txBody>
          <a:bodyPr wrap="square">
            <a:spAutoFit/>
          </a:bodyPr>
          <a:lstStyle/>
          <a:p>
            <a:r>
              <a:rPr lang="en-US" sz="1300" b="1" dirty="0">
                <a:solidFill>
                  <a:srgbClr val="4A9EFF"/>
                </a:solidFill>
                <a:latin typeface="Calibri"/>
              </a:rPr>
              <a:t>4</a:t>
            </a:r>
            <a:r>
              <a:rPr sz="1300" b="1" dirty="0">
                <a:solidFill>
                  <a:srgbClr val="4A9EFF"/>
                </a:solidFill>
                <a:latin typeface="Calibri"/>
              </a:rPr>
              <a:t>  </a:t>
            </a:r>
            <a:r>
              <a:rPr lang="en-US" sz="1300" b="1" dirty="0">
                <a:solidFill>
                  <a:srgbClr val="4A9EFF"/>
                </a:solidFill>
                <a:latin typeface="Calibri"/>
              </a:rPr>
              <a:t>Transcript validation</a:t>
            </a:r>
          </a:p>
          <a:p>
            <a:pPr>
              <a:spcBef>
                <a:spcPts val="400"/>
              </a:spcBef>
            </a:pPr>
            <a:r>
              <a:rPr lang="en-US" sz="1200" b="0" dirty="0">
                <a:solidFill>
                  <a:srgbClr val="FFFFFF"/>
                </a:solidFill>
                <a:latin typeface="Calibri"/>
              </a:rPr>
              <a:t>Human validation of </a:t>
            </a:r>
            <a:r>
              <a:rPr lang="en-US" sz="1200" b="0" dirty="0" err="1">
                <a:solidFill>
                  <a:srgbClr val="FFFFFF"/>
                </a:solidFill>
                <a:latin typeface="Calibri"/>
              </a:rPr>
              <a:t>patient_agent</a:t>
            </a:r>
            <a:r>
              <a:rPr lang="en-US" sz="1200" b="0" dirty="0">
                <a:solidFill>
                  <a:srgbClr val="FFFFFF"/>
                </a:solidFill>
                <a:latin typeface="Calibri"/>
              </a:rPr>
              <a:t> &lt;-&gt; </a:t>
            </a:r>
            <a:r>
              <a:rPr lang="en-US" sz="1200" b="0" dirty="0" err="1">
                <a:solidFill>
                  <a:srgbClr val="FFFFFF"/>
                </a:solidFill>
                <a:latin typeface="Calibri"/>
              </a:rPr>
              <a:t>DigiMSKbot</a:t>
            </a:r>
            <a:r>
              <a:rPr lang="en-US" sz="1200" b="0" dirty="0">
                <a:solidFill>
                  <a:srgbClr val="FFFFFF"/>
                </a:solidFill>
                <a:latin typeface="Calibri"/>
              </a:rPr>
              <a:t> dialogue prior to freezing for use in survey study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7472" y="109728"/>
            <a:ext cx="10424160" cy="430887"/>
          </a:xfrm>
          <a:prstGeom prst="rect">
            <a:avLst/>
          </a:prstGeom>
          <a:noFill/>
        </p:spPr>
        <p:txBody>
          <a:bodyPr wrap="square">
            <a:spAutoFit/>
          </a:bodyPr>
          <a:lstStyle/>
          <a:p>
            <a:r>
              <a:rPr sz="2200" b="1" dirty="0">
                <a:solidFill>
                  <a:srgbClr val="FFFFFF"/>
                </a:solidFill>
                <a:latin typeface="Calibri"/>
              </a:rPr>
              <a:t>OSCE case card (JSON</a:t>
            </a:r>
            <a:r>
              <a:rPr lang="en-US" sz="2200" b="1" dirty="0">
                <a:solidFill>
                  <a:srgbClr val="FFFFFF"/>
                </a:solidFill>
                <a:latin typeface="Calibri"/>
              </a:rPr>
              <a:t>)</a:t>
            </a:r>
            <a:endParaRPr sz="2200" b="1" dirty="0">
              <a:solidFill>
                <a:srgbClr val="FFFFFF"/>
              </a:solidFill>
              <a:latin typeface="Calibri"/>
            </a:endParaRPr>
          </a:p>
        </p:txBody>
      </p:sp>
      <p:sp>
        <p:nvSpPr>
          <p:cNvPr id="5" name="Rectangle 4"/>
          <p:cNvSpPr/>
          <p:nvPr/>
        </p:nvSpPr>
        <p:spPr>
          <a:xfrm>
            <a:off x="347472" y="493776"/>
            <a:ext cx="1828800" cy="32004"/>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89517" y="713078"/>
            <a:ext cx="11430000" cy="307777"/>
          </a:xfrm>
          <a:prstGeom prst="rect">
            <a:avLst/>
          </a:prstGeom>
          <a:noFill/>
        </p:spPr>
        <p:txBody>
          <a:bodyPr wrap="square">
            <a:spAutoFit/>
          </a:bodyPr>
          <a:lstStyle/>
          <a:p>
            <a:r>
              <a:rPr sz="1400" b="1" dirty="0">
                <a:solidFill>
                  <a:srgbClr val="FFFFFF"/>
                </a:solidFill>
                <a:latin typeface="Calibri"/>
              </a:rPr>
              <a:t>Bold</a:t>
            </a:r>
            <a:r>
              <a:rPr sz="1400" b="0" dirty="0">
                <a:solidFill>
                  <a:srgbClr val="C8CDD6"/>
                </a:solidFill>
                <a:latin typeface="Calibri"/>
              </a:rPr>
              <a:t> = copied into the </a:t>
            </a:r>
            <a:r>
              <a:rPr sz="1400" b="0" dirty="0" err="1">
                <a:solidFill>
                  <a:srgbClr val="C8CDD6"/>
                </a:solidFill>
                <a:latin typeface="Calibri"/>
              </a:rPr>
              <a:t>patient_agent</a:t>
            </a:r>
            <a:r>
              <a:rPr sz="1400" b="0" dirty="0">
                <a:solidFill>
                  <a:srgbClr val="C8CDD6"/>
                </a:solidFill>
                <a:latin typeface="Calibri"/>
              </a:rPr>
              <a:t> prompt. </a:t>
            </a:r>
            <a:r>
              <a:rPr sz="1400" b="0" dirty="0" err="1">
                <a:solidFill>
                  <a:srgbClr val="C8CDD6"/>
                </a:solidFill>
                <a:latin typeface="Calibri"/>
              </a:rPr>
              <a:t>DigiMSKbot</a:t>
            </a:r>
            <a:r>
              <a:rPr sz="1400" b="0" dirty="0">
                <a:solidFill>
                  <a:srgbClr val="C8CDD6"/>
                </a:solidFill>
                <a:latin typeface="Calibri"/>
              </a:rPr>
              <a:t> never reads this file.</a:t>
            </a:r>
          </a:p>
        </p:txBody>
      </p:sp>
      <p:graphicFrame>
        <p:nvGraphicFramePr>
          <p:cNvPr id="7" name="Table 6"/>
          <p:cNvGraphicFramePr>
            <a:graphicFrameLocks noGrp="1"/>
          </p:cNvGraphicFramePr>
          <p:nvPr>
            <p:extLst>
              <p:ext uri="{D42A27DB-BD31-4B8C-83A1-F6EECF244321}">
                <p14:modId xmlns:p14="http://schemas.microsoft.com/office/powerpoint/2010/main" val="1761669955"/>
              </p:ext>
            </p:extLst>
          </p:nvPr>
        </p:nvGraphicFramePr>
        <p:xfrm>
          <a:off x="347472" y="1407918"/>
          <a:ext cx="10929548" cy="4653148"/>
        </p:xfrm>
        <a:graphic>
          <a:graphicData uri="http://schemas.openxmlformats.org/drawingml/2006/table">
            <a:tbl>
              <a:tblPr firstRow="1" bandRow="1"/>
              <a:tblGrid>
                <a:gridCol w="1648388">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237744">
                <a:tc>
                  <a:txBody>
                    <a:bodyPr/>
                    <a:lstStyle/>
                    <a:p>
                      <a:pPr>
                        <a:spcBef>
                          <a:spcPts val="0"/>
                        </a:spcBef>
                        <a:spcAft>
                          <a:spcPts val="0"/>
                        </a:spcAft>
                      </a:pPr>
                      <a:r>
                        <a:rPr sz="1100" b="1">
                          <a:solidFill>
                            <a:srgbClr val="4A9EFF"/>
                          </a:solidFill>
                          <a:latin typeface="Calibri"/>
                        </a:rPr>
                        <a:t>Field</a:t>
                      </a:r>
                    </a:p>
                  </a:txBody>
                  <a:tcPr marL="36000" marR="36000" marT="20000" marB="20000" anchor="ctr">
                    <a:solidFill>
                      <a:srgbClr val="1E1E24"/>
                    </a:solidFill>
                  </a:tcPr>
                </a:tc>
                <a:tc>
                  <a:txBody>
                    <a:bodyPr/>
                    <a:lstStyle/>
                    <a:p>
                      <a:pPr>
                        <a:spcBef>
                          <a:spcPts val="0"/>
                        </a:spcBef>
                        <a:spcAft>
                          <a:spcPts val="0"/>
                        </a:spcAft>
                      </a:pPr>
                      <a:r>
                        <a:rPr sz="1100" b="1">
                          <a:solidFill>
                            <a:srgbClr val="4A9EFF"/>
                          </a:solidFill>
                          <a:latin typeface="Calibri"/>
                        </a:rPr>
                        <a:t>What it is</a:t>
                      </a:r>
                    </a:p>
                  </a:txBody>
                  <a:tcPr marL="36000" marR="36000" marT="20000" marB="20000" anchor="ctr">
                    <a:solidFill>
                      <a:srgbClr val="1E1E24"/>
                    </a:solidFill>
                  </a:tcPr>
                </a:tc>
                <a:tc>
                  <a:txBody>
                    <a:bodyPr/>
                    <a:lstStyle/>
                    <a:p>
                      <a:pPr>
                        <a:spcBef>
                          <a:spcPts val="0"/>
                        </a:spcBef>
                        <a:spcAft>
                          <a:spcPts val="0"/>
                        </a:spcAft>
                      </a:pPr>
                      <a:r>
                        <a:rPr sz="1100" b="1" dirty="0">
                          <a:solidFill>
                            <a:srgbClr val="4A9EFF"/>
                          </a:solidFill>
                          <a:latin typeface="Calibri"/>
                        </a:rPr>
                        <a:t>Why</a:t>
                      </a:r>
                    </a:p>
                  </a:txBody>
                  <a:tcPr marL="36000" marR="36000" marT="20000" marB="20000" anchor="ctr">
                    <a:solidFill>
                      <a:srgbClr val="1E1E24"/>
                    </a:solidFill>
                  </a:tcPr>
                </a:tc>
                <a:extLst>
                  <a:ext uri="{0D108BD9-81ED-4DB2-BD59-A6C34878D82A}">
                    <a16:rowId xmlns:a16="http://schemas.microsoft.com/office/drawing/2014/main" val="10000"/>
                  </a:ext>
                </a:extLst>
              </a:tr>
              <a:tr h="178308">
                <a:tc>
                  <a:txBody>
                    <a:bodyPr/>
                    <a:lstStyle/>
                    <a:p>
                      <a:pPr>
                        <a:spcBef>
                          <a:spcPts val="0"/>
                        </a:spcBef>
                        <a:spcAft>
                          <a:spcPts val="0"/>
                        </a:spcAft>
                      </a:pPr>
                      <a:r>
                        <a:rPr sz="900" b="0">
                          <a:solidFill>
                            <a:srgbClr val="C8CDD6"/>
                          </a:solidFill>
                          <a:latin typeface="Calibri"/>
                        </a:rPr>
                        <a:t>case_id</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Locked card id (e.g. lbp_osce_</a:t>
                      </a:r>
                      <a:r>
                        <a:rPr lang="en-US" sz="900" b="0" dirty="0">
                          <a:solidFill>
                            <a:srgbClr val="C8CDD6"/>
                          </a:solidFill>
                          <a:latin typeface="Calibri"/>
                        </a:rPr>
                        <a:t>1</a:t>
                      </a:r>
                      <a:r>
                        <a:rPr sz="900" b="0" dirty="0">
                          <a:solidFill>
                            <a:srgbClr val="C8CDD6"/>
                          </a:solidFill>
                          <a:latin typeface="Calibri"/>
                        </a:rPr>
                        <a:t>)</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Bookkeeping</a:t>
                      </a:r>
                      <a:r>
                        <a:rPr lang="en-US" sz="900" b="0" dirty="0">
                          <a:solidFill>
                            <a:srgbClr val="C8CDD6"/>
                          </a:solidFill>
                          <a:latin typeface="Calibri"/>
                        </a:rPr>
                        <a:t>- only assigned after human validation</a:t>
                      </a:r>
                      <a:endParaRPr sz="900" b="0" dirty="0">
                        <a:solidFill>
                          <a:srgbClr val="C8CDD6"/>
                        </a:solidFill>
                        <a:latin typeface="Calibri"/>
                      </a:endParaRPr>
                    </a:p>
                  </a:txBody>
                  <a:tcPr marL="36000" marR="36000" marT="20000" marB="20000" anchor="ctr">
                    <a:solidFill>
                      <a:srgbClr val="32323A"/>
                    </a:solidFill>
                  </a:tcPr>
                </a:tc>
                <a:extLst>
                  <a:ext uri="{0D108BD9-81ED-4DB2-BD59-A6C34878D82A}">
                    <a16:rowId xmlns:a16="http://schemas.microsoft.com/office/drawing/2014/main" val="10001"/>
                  </a:ext>
                </a:extLst>
              </a:tr>
              <a:tr h="178308">
                <a:tc>
                  <a:txBody>
                    <a:bodyPr/>
                    <a:lstStyle/>
                    <a:p>
                      <a:pPr>
                        <a:spcBef>
                          <a:spcPts val="0"/>
                        </a:spcBef>
                        <a:spcAft>
                          <a:spcPts val="0"/>
                        </a:spcAft>
                      </a:pPr>
                      <a:r>
                        <a:rPr sz="900" b="0">
                          <a:solidFill>
                            <a:srgbClr val="C8CDD6"/>
                          </a:solidFill>
                          <a:latin typeface="Calibri"/>
                        </a:rPr>
                        <a:t>source_corpus</a:t>
                      </a:r>
                    </a:p>
                  </a:txBody>
                  <a:tcPr marL="36000" marR="36000" marT="20000" marB="20000" anchor="ctr">
                    <a:solidFill>
                      <a:srgbClr val="32323A"/>
                    </a:solidFill>
                  </a:tcPr>
                </a:tc>
                <a:tc>
                  <a:txBody>
                    <a:bodyPr/>
                    <a:lstStyle/>
                    <a:p>
                      <a:pPr>
                        <a:spcBef>
                          <a:spcPts val="0"/>
                        </a:spcBef>
                        <a:spcAft>
                          <a:spcPts val="0"/>
                        </a:spcAft>
                      </a:pPr>
                      <a:r>
                        <a:rPr sz="900" b="0">
                          <a:solidFill>
                            <a:srgbClr val="C8CDD6"/>
                          </a:solidFill>
                          <a:latin typeface="Calibri"/>
                        </a:rPr>
                        <a:t>Always medqa_us</a:t>
                      </a:r>
                    </a:p>
                  </a:txBody>
                  <a:tcPr marL="36000" marR="36000" marT="20000" marB="20000" anchor="ctr">
                    <a:solidFill>
                      <a:srgbClr val="32323A"/>
                    </a:solidFill>
                  </a:tcPr>
                </a:tc>
                <a:tc>
                  <a:txBody>
                    <a:bodyPr/>
                    <a:lstStyle/>
                    <a:p>
                      <a:pPr>
                        <a:spcBef>
                          <a:spcPts val="0"/>
                        </a:spcBef>
                        <a:spcAft>
                          <a:spcPts val="0"/>
                        </a:spcAft>
                      </a:pPr>
                      <a:r>
                        <a:rPr lang="en-US" sz="900" b="0" dirty="0">
                          <a:solidFill>
                            <a:srgbClr val="C8CDD6"/>
                          </a:solidFill>
                          <a:latin typeface="Calibri"/>
                        </a:rPr>
                        <a:t>Bookkeeping</a:t>
                      </a:r>
                      <a:endParaRPr sz="900" b="0" dirty="0">
                        <a:solidFill>
                          <a:srgbClr val="C8CDD6"/>
                        </a:solidFill>
                        <a:latin typeface="Calibri"/>
                      </a:endParaRPr>
                    </a:p>
                  </a:txBody>
                  <a:tcPr marL="36000" marR="36000" marT="20000" marB="20000" anchor="ctr">
                    <a:solidFill>
                      <a:srgbClr val="32323A"/>
                    </a:solidFill>
                  </a:tcPr>
                </a:tc>
                <a:extLst>
                  <a:ext uri="{0D108BD9-81ED-4DB2-BD59-A6C34878D82A}">
                    <a16:rowId xmlns:a16="http://schemas.microsoft.com/office/drawing/2014/main" val="10002"/>
                  </a:ext>
                </a:extLst>
              </a:tr>
              <a:tr h="178308">
                <a:tc>
                  <a:txBody>
                    <a:bodyPr/>
                    <a:lstStyle/>
                    <a:p>
                      <a:pPr>
                        <a:spcBef>
                          <a:spcPts val="0"/>
                        </a:spcBef>
                        <a:spcAft>
                          <a:spcPts val="0"/>
                        </a:spcAft>
                      </a:pPr>
                      <a:r>
                        <a:rPr sz="900" b="0">
                          <a:solidFill>
                            <a:srgbClr val="C8CDD6"/>
                          </a:solidFill>
                          <a:latin typeface="Calibri"/>
                        </a:rPr>
                        <a:t>source_id</a:t>
                      </a:r>
                    </a:p>
                  </a:txBody>
                  <a:tcPr marL="36000" marR="36000" marT="20000" marB="20000" anchor="ctr">
                    <a:solidFill>
                      <a:srgbClr val="32323A"/>
                    </a:solidFill>
                  </a:tcPr>
                </a:tc>
                <a:tc>
                  <a:txBody>
                    <a:bodyPr/>
                    <a:lstStyle/>
                    <a:p>
                      <a:pPr>
                        <a:spcBef>
                          <a:spcPts val="0"/>
                        </a:spcBef>
                        <a:spcAft>
                          <a:spcPts val="0"/>
                        </a:spcAft>
                      </a:pPr>
                      <a:r>
                        <a:rPr sz="900" b="0">
                          <a:solidFill>
                            <a:srgbClr val="C8CDD6"/>
                          </a:solidFill>
                          <a:latin typeface="Calibri"/>
                        </a:rPr>
                        <a:t>MedQA item id</a:t>
                      </a:r>
                    </a:p>
                  </a:txBody>
                  <a:tcPr marL="36000" marR="36000" marT="20000" marB="20000" anchor="ctr">
                    <a:solidFill>
                      <a:srgbClr val="32323A"/>
                    </a:solidFill>
                  </a:tcPr>
                </a:tc>
                <a:tc>
                  <a:txBody>
                    <a:bodyPr/>
                    <a:lstStyle/>
                    <a:p>
                      <a:pPr>
                        <a:spcBef>
                          <a:spcPts val="0"/>
                        </a:spcBef>
                        <a:spcAft>
                          <a:spcPts val="0"/>
                        </a:spcAft>
                      </a:pPr>
                      <a:r>
                        <a:rPr lang="en-CA" sz="900" b="0" dirty="0">
                          <a:solidFill>
                            <a:srgbClr val="C8CDD6"/>
                          </a:solidFill>
                          <a:latin typeface="+mn-lt"/>
                        </a:rPr>
                        <a:t>Bookkeeping</a:t>
                      </a:r>
                      <a:endParaRPr sz="900" b="0" dirty="0">
                        <a:solidFill>
                          <a:srgbClr val="C8CDD6"/>
                        </a:solidFill>
                        <a:latin typeface="Calibri"/>
                      </a:endParaRPr>
                    </a:p>
                  </a:txBody>
                  <a:tcPr marL="36000" marR="36000" marT="20000" marB="20000" anchor="ctr">
                    <a:solidFill>
                      <a:srgbClr val="32323A"/>
                    </a:solidFill>
                  </a:tcPr>
                </a:tc>
                <a:extLst>
                  <a:ext uri="{0D108BD9-81ED-4DB2-BD59-A6C34878D82A}">
                    <a16:rowId xmlns:a16="http://schemas.microsoft.com/office/drawing/2014/main" val="10003"/>
                  </a:ext>
                </a:extLst>
              </a:tr>
              <a:tr h="178308">
                <a:tc>
                  <a:txBody>
                    <a:bodyPr/>
                    <a:lstStyle/>
                    <a:p>
                      <a:pPr>
                        <a:spcBef>
                          <a:spcPts val="0"/>
                        </a:spcBef>
                        <a:spcAft>
                          <a:spcPts val="0"/>
                        </a:spcAft>
                      </a:pPr>
                      <a:r>
                        <a:rPr sz="900" b="0">
                          <a:solidFill>
                            <a:srgbClr val="C8CDD6"/>
                          </a:solidFill>
                          <a:latin typeface="Calibri"/>
                        </a:rPr>
                        <a:t>stem_hash</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SHA-256 of the stripped stem</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Dedup</a:t>
                      </a:r>
                      <a:r>
                        <a:rPr lang="en-US" sz="900" b="0" dirty="0">
                          <a:solidFill>
                            <a:srgbClr val="C8CDD6"/>
                          </a:solidFill>
                          <a:latin typeface="Calibri"/>
                        </a:rPr>
                        <a:t>lication</a:t>
                      </a:r>
                      <a:r>
                        <a:rPr sz="900" b="0" dirty="0">
                          <a:solidFill>
                            <a:srgbClr val="C8CDD6"/>
                          </a:solidFill>
                          <a:latin typeface="Calibri"/>
                        </a:rPr>
                        <a:t> and audit</a:t>
                      </a:r>
                    </a:p>
                  </a:txBody>
                  <a:tcPr marL="36000" marR="36000" marT="20000" marB="20000" anchor="ctr">
                    <a:solidFill>
                      <a:srgbClr val="32323A"/>
                    </a:solidFill>
                  </a:tcPr>
                </a:tc>
                <a:extLst>
                  <a:ext uri="{0D108BD9-81ED-4DB2-BD59-A6C34878D82A}">
                    <a16:rowId xmlns:a16="http://schemas.microsoft.com/office/drawing/2014/main" val="10004"/>
                  </a:ext>
                </a:extLst>
              </a:tr>
              <a:tr h="178308">
                <a:tc>
                  <a:txBody>
                    <a:bodyPr/>
                    <a:lstStyle/>
                    <a:p>
                      <a:pPr>
                        <a:spcBef>
                          <a:spcPts val="0"/>
                        </a:spcBef>
                        <a:spcAft>
                          <a:spcPts val="0"/>
                        </a:spcAft>
                      </a:pPr>
                      <a:r>
                        <a:rPr sz="900" b="0">
                          <a:solidFill>
                            <a:srgbClr val="C8CDD6"/>
                          </a:solidFill>
                          <a:latin typeface="Calibri"/>
                        </a:rPr>
                        <a:t>conversion</a:t>
                      </a:r>
                    </a:p>
                  </a:txBody>
                  <a:tcPr marL="36000" marR="36000" marT="20000" marB="20000" anchor="ctr">
                    <a:solidFill>
                      <a:srgbClr val="32323A"/>
                    </a:solidFill>
                  </a:tcPr>
                </a:tc>
                <a:tc>
                  <a:txBody>
                    <a:bodyPr/>
                    <a:lstStyle/>
                    <a:p>
                      <a:pPr>
                        <a:spcBef>
                          <a:spcPts val="0"/>
                        </a:spcBef>
                        <a:spcAft>
                          <a:spcPts val="0"/>
                        </a:spcAft>
                      </a:pPr>
                      <a:r>
                        <a:rPr lang="en-US" sz="900" b="0" dirty="0">
                          <a:solidFill>
                            <a:srgbClr val="C8CDD6"/>
                          </a:solidFill>
                          <a:latin typeface="Calibri"/>
                        </a:rPr>
                        <a:t>Temporary dev variable</a:t>
                      </a:r>
                      <a:endParaRPr sz="900" b="0" dirty="0">
                        <a:solidFill>
                          <a:srgbClr val="C8CDD6"/>
                        </a:solidFill>
                        <a:latin typeface="Calibri"/>
                      </a:endParaRP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Pipeline flag until a human rewrites </a:t>
                      </a:r>
                      <a:r>
                        <a:rPr lang="en-US" sz="900" b="0" dirty="0">
                          <a:solidFill>
                            <a:srgbClr val="C8CDD6"/>
                          </a:solidFill>
                          <a:latin typeface="Calibri"/>
                        </a:rPr>
                        <a:t>or validates </a:t>
                      </a:r>
                      <a:r>
                        <a:rPr sz="900" b="0" dirty="0">
                          <a:solidFill>
                            <a:srgbClr val="C8CDD6"/>
                          </a:solidFill>
                          <a:latin typeface="Calibri"/>
                        </a:rPr>
                        <a:t>the card.</a:t>
                      </a:r>
                    </a:p>
                  </a:txBody>
                  <a:tcPr marL="36000" marR="36000" marT="20000" marB="20000" anchor="ctr">
                    <a:solidFill>
                      <a:srgbClr val="32323A"/>
                    </a:solidFill>
                  </a:tcPr>
                </a:tc>
                <a:extLst>
                  <a:ext uri="{0D108BD9-81ED-4DB2-BD59-A6C34878D82A}">
                    <a16:rowId xmlns:a16="http://schemas.microsoft.com/office/drawing/2014/main" val="10005"/>
                  </a:ext>
                </a:extLst>
              </a:tr>
              <a:tr h="178308">
                <a:tc>
                  <a:txBody>
                    <a:bodyPr/>
                    <a:lstStyle/>
                    <a:p>
                      <a:pPr>
                        <a:spcBef>
                          <a:spcPts val="0"/>
                        </a:spcBef>
                        <a:spcAft>
                          <a:spcPts val="0"/>
                        </a:spcAft>
                      </a:pPr>
                      <a:r>
                        <a:rPr sz="900" b="1">
                          <a:solidFill>
                            <a:srgbClr val="FFFFFF"/>
                          </a:solidFill>
                          <a:latin typeface="Calibri"/>
                        </a:rPr>
                        <a:t>Patient_Actor</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The </a:t>
                      </a:r>
                      <a:r>
                        <a:rPr lang="en-US" sz="900" b="0" dirty="0">
                          <a:solidFill>
                            <a:srgbClr val="FFFFFF"/>
                          </a:solidFill>
                          <a:latin typeface="Calibri"/>
                        </a:rPr>
                        <a:t>script that </a:t>
                      </a:r>
                      <a:r>
                        <a:rPr lang="en-US" sz="900" b="0" dirty="0" err="1">
                          <a:solidFill>
                            <a:srgbClr val="FFFFFF"/>
                          </a:solidFill>
                          <a:latin typeface="Calibri"/>
                        </a:rPr>
                        <a:t>patient_actor</a:t>
                      </a:r>
                      <a:r>
                        <a:rPr lang="en-US" sz="900" b="0" dirty="0">
                          <a:solidFill>
                            <a:srgbClr val="FFFFFF"/>
                          </a:solidFill>
                          <a:latin typeface="Calibri"/>
                        </a:rPr>
                        <a:t> receives</a:t>
                      </a:r>
                      <a:endParaRPr sz="900" b="0" dirty="0">
                        <a:solidFill>
                          <a:srgbClr val="FFFFFF"/>
                        </a:solidFill>
                        <a:latin typeface="Calibri"/>
                      </a:endParaRPr>
                    </a:p>
                  </a:txBody>
                  <a:tcPr marL="36000" marR="36000" marT="20000" marB="20000" anchor="ctr">
                    <a:solidFill>
                      <a:srgbClr val="2C3644"/>
                    </a:solidFill>
                  </a:tcPr>
                </a:tc>
                <a:tc>
                  <a:txBody>
                    <a:bodyPr/>
                    <a:lstStyle/>
                    <a:p>
                      <a:pPr>
                        <a:spcBef>
                          <a:spcPts val="0"/>
                        </a:spcBef>
                        <a:spcAft>
                          <a:spcPts val="0"/>
                        </a:spcAft>
                      </a:pPr>
                      <a:endParaRPr sz="900" b="0" dirty="0">
                        <a:solidFill>
                          <a:srgbClr val="FFFFFF"/>
                        </a:solidFill>
                        <a:latin typeface="Calibri"/>
                      </a:endParaRPr>
                    </a:p>
                  </a:txBody>
                  <a:tcPr marL="36000" marR="36000" marT="20000" marB="20000" anchor="ctr">
                    <a:solidFill>
                      <a:srgbClr val="2C3644"/>
                    </a:solidFill>
                  </a:tcPr>
                </a:tc>
                <a:extLst>
                  <a:ext uri="{0D108BD9-81ED-4DB2-BD59-A6C34878D82A}">
                    <a16:rowId xmlns:a16="http://schemas.microsoft.com/office/drawing/2014/main" val="10006"/>
                  </a:ext>
                </a:extLst>
              </a:tr>
              <a:tr h="178308">
                <a:tc>
                  <a:txBody>
                    <a:bodyPr/>
                    <a:lstStyle/>
                    <a:p>
                      <a:pPr>
                        <a:spcBef>
                          <a:spcPts val="0"/>
                        </a:spcBef>
                        <a:spcAft>
                          <a:spcPts val="0"/>
                        </a:spcAft>
                      </a:pPr>
                      <a:r>
                        <a:rPr sz="900" b="1">
                          <a:solidFill>
                            <a:srgbClr val="FFFFFF"/>
                          </a:solidFill>
                          <a:latin typeface="Calibri"/>
                        </a:rPr>
                        <a:t>  demographics</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Age, sex</a:t>
                      </a:r>
                    </a:p>
                  </a:txBody>
                  <a:tcPr marL="36000" marR="36000" marT="20000" marB="20000" anchor="ctr">
                    <a:solidFill>
                      <a:srgbClr val="2C3644"/>
                    </a:solidFill>
                  </a:tcPr>
                </a:tc>
                <a:tc>
                  <a:txBody>
                    <a:bodyPr/>
                    <a:lstStyle/>
                    <a:p>
                      <a:pPr>
                        <a:spcBef>
                          <a:spcPts val="0"/>
                        </a:spcBef>
                        <a:spcAft>
                          <a:spcPts val="0"/>
                        </a:spcAft>
                      </a:pPr>
                      <a:r>
                        <a:rPr sz="900" b="0" dirty="0" err="1">
                          <a:solidFill>
                            <a:srgbClr val="FFFFFF"/>
                          </a:solidFill>
                          <a:latin typeface="Calibri"/>
                        </a:rPr>
                        <a:t>DigiMSK</a:t>
                      </a:r>
                      <a:r>
                        <a:rPr sz="900" b="0" dirty="0">
                          <a:solidFill>
                            <a:srgbClr val="FFFFFF"/>
                          </a:solidFill>
                          <a:latin typeface="Calibri"/>
                        </a:rPr>
                        <a:t> intake. </a:t>
                      </a:r>
                    </a:p>
                  </a:txBody>
                  <a:tcPr marL="36000" marR="36000" marT="20000" marB="20000" anchor="ctr">
                    <a:solidFill>
                      <a:srgbClr val="2C3644"/>
                    </a:solidFill>
                  </a:tcPr>
                </a:tc>
                <a:extLst>
                  <a:ext uri="{0D108BD9-81ED-4DB2-BD59-A6C34878D82A}">
                    <a16:rowId xmlns:a16="http://schemas.microsoft.com/office/drawing/2014/main" val="10007"/>
                  </a:ext>
                </a:extLst>
              </a:tr>
              <a:tr h="178308">
                <a:tc>
                  <a:txBody>
                    <a:bodyPr/>
                    <a:lstStyle/>
                    <a:p>
                      <a:pPr>
                        <a:spcBef>
                          <a:spcPts val="0"/>
                        </a:spcBef>
                        <a:spcAft>
                          <a:spcPts val="0"/>
                        </a:spcAft>
                      </a:pPr>
                      <a:r>
                        <a:rPr sz="900" b="1">
                          <a:solidFill>
                            <a:srgbClr val="FFFFFF"/>
                          </a:solidFill>
                          <a:latin typeface="Calibri"/>
                        </a:rPr>
                        <a:t>  opening_complaint</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First typed bubble</a:t>
                      </a:r>
                    </a:p>
                  </a:txBody>
                  <a:tcPr marL="36000" marR="36000" marT="20000" marB="20000" anchor="ctr">
                    <a:solidFill>
                      <a:srgbClr val="2C3644"/>
                    </a:solidFill>
                  </a:tcPr>
                </a:tc>
                <a:tc>
                  <a:txBody>
                    <a:bodyPr/>
                    <a:lstStyle/>
                    <a:p>
                      <a:pPr>
                        <a:spcBef>
                          <a:spcPts val="0"/>
                        </a:spcBef>
                        <a:spcAft>
                          <a:spcPts val="0"/>
                        </a:spcAft>
                      </a:pPr>
                      <a:r>
                        <a:rPr sz="900" b="0" dirty="0" err="1">
                          <a:solidFill>
                            <a:srgbClr val="FFFFFF"/>
                          </a:solidFill>
                          <a:latin typeface="Calibri"/>
                        </a:rPr>
                        <a:t>DigiMSK</a:t>
                      </a:r>
                      <a:r>
                        <a:rPr sz="900" b="0" dirty="0">
                          <a:solidFill>
                            <a:srgbClr val="FFFFFF"/>
                          </a:solidFill>
                          <a:latin typeface="Calibri"/>
                        </a:rPr>
                        <a:t> sees this as </a:t>
                      </a:r>
                      <a:r>
                        <a:rPr lang="en-US" sz="900" b="0" dirty="0">
                          <a:solidFill>
                            <a:srgbClr val="FFFFFF"/>
                          </a:solidFill>
                          <a:latin typeface="Calibri"/>
                        </a:rPr>
                        <a:t>patient </a:t>
                      </a:r>
                      <a:r>
                        <a:rPr sz="900" b="0" dirty="0">
                          <a:solidFill>
                            <a:srgbClr val="FFFFFF"/>
                          </a:solidFill>
                          <a:latin typeface="Calibri"/>
                        </a:rPr>
                        <a:t>turn 1. </a:t>
                      </a:r>
                    </a:p>
                  </a:txBody>
                  <a:tcPr marL="36000" marR="36000" marT="20000" marB="20000" anchor="ctr">
                    <a:solidFill>
                      <a:srgbClr val="2C3644"/>
                    </a:solidFill>
                  </a:tcPr>
                </a:tc>
                <a:extLst>
                  <a:ext uri="{0D108BD9-81ED-4DB2-BD59-A6C34878D82A}">
                    <a16:rowId xmlns:a16="http://schemas.microsoft.com/office/drawing/2014/main" val="10008"/>
                  </a:ext>
                </a:extLst>
              </a:tr>
              <a:tr h="178308">
                <a:tc>
                  <a:txBody>
                    <a:bodyPr/>
                    <a:lstStyle/>
                    <a:p>
                      <a:pPr>
                        <a:spcBef>
                          <a:spcPts val="0"/>
                        </a:spcBef>
                        <a:spcAft>
                          <a:spcPts val="0"/>
                        </a:spcAft>
                      </a:pPr>
                      <a:r>
                        <a:rPr sz="900" b="1">
                          <a:solidFill>
                            <a:srgbClr val="FFFFFF"/>
                          </a:solidFill>
                          <a:latin typeface="Calibri"/>
                        </a:rPr>
                        <a:t>  history</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Onset, course, mechanism (first-person facts)</a:t>
                      </a:r>
                    </a:p>
                  </a:txBody>
                  <a:tcPr marL="36000" marR="36000" marT="20000" marB="20000" anchor="ctr">
                    <a:solidFill>
                      <a:srgbClr val="2C3644"/>
                    </a:solidFill>
                  </a:tcPr>
                </a:tc>
                <a:tc>
                  <a:txBody>
                    <a:bodyPr/>
                    <a:lstStyle/>
                    <a:p>
                      <a:pPr>
                        <a:spcBef>
                          <a:spcPts val="0"/>
                        </a:spcBef>
                        <a:spcAft>
                          <a:spcPts val="0"/>
                        </a:spcAft>
                      </a:pPr>
                      <a:r>
                        <a:rPr lang="en-CA" sz="900" b="0" dirty="0" err="1">
                          <a:solidFill>
                            <a:srgbClr val="FFFFFF"/>
                          </a:solidFill>
                          <a:latin typeface="+mn-lt"/>
                        </a:rPr>
                        <a:t>DigiMSK</a:t>
                      </a:r>
                      <a:r>
                        <a:rPr lang="en-CA" sz="900" b="0" dirty="0">
                          <a:solidFill>
                            <a:srgbClr val="FFFFFF"/>
                          </a:solidFill>
                          <a:latin typeface="+mn-lt"/>
                        </a:rPr>
                        <a:t> intake. </a:t>
                      </a:r>
                    </a:p>
                  </a:txBody>
                  <a:tcPr marL="36000" marR="36000" marT="20000" marB="20000" anchor="ctr">
                    <a:solidFill>
                      <a:srgbClr val="2C3644"/>
                    </a:solidFill>
                  </a:tcPr>
                </a:tc>
                <a:extLst>
                  <a:ext uri="{0D108BD9-81ED-4DB2-BD59-A6C34878D82A}">
                    <a16:rowId xmlns:a16="http://schemas.microsoft.com/office/drawing/2014/main" val="10009"/>
                  </a:ext>
                </a:extLst>
              </a:tr>
              <a:tr h="178308">
                <a:tc>
                  <a:txBody>
                    <a:bodyPr/>
                    <a:lstStyle/>
                    <a:p>
                      <a:pPr>
                        <a:spcBef>
                          <a:spcPts val="0"/>
                        </a:spcBef>
                        <a:spcAft>
                          <a:spcPts val="0"/>
                        </a:spcAft>
                      </a:pPr>
                      <a:r>
                        <a:rPr sz="900" b="1">
                          <a:solidFill>
                            <a:srgbClr val="FFFFFF"/>
                          </a:solidFill>
                          <a:latin typeface="Calibri"/>
                        </a:rPr>
                        <a:t>  symptoms</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.primary / .secondary[] — location, radiation, quality</a:t>
                      </a:r>
                    </a:p>
                  </a:txBody>
                  <a:tcPr marL="36000" marR="36000" marT="20000" marB="20000" anchor="ctr">
                    <a:solidFill>
                      <a:srgbClr val="2C3644"/>
                    </a:solidFill>
                  </a:tcPr>
                </a:tc>
                <a:tc>
                  <a:txBody>
                    <a:bodyPr/>
                    <a:lstStyle/>
                    <a:p>
                      <a:pPr>
                        <a:spcBef>
                          <a:spcPts val="0"/>
                        </a:spcBef>
                        <a:spcAft>
                          <a:spcPts val="0"/>
                        </a:spcAft>
                      </a:pPr>
                      <a:r>
                        <a:rPr lang="en-CA" sz="900" b="0" dirty="0" err="1">
                          <a:solidFill>
                            <a:srgbClr val="FFFFFF"/>
                          </a:solidFill>
                          <a:latin typeface="+mn-lt"/>
                        </a:rPr>
                        <a:t>DigiMSK</a:t>
                      </a:r>
                      <a:r>
                        <a:rPr lang="en-CA" sz="900" b="0" dirty="0">
                          <a:solidFill>
                            <a:srgbClr val="FFFFFF"/>
                          </a:solidFill>
                          <a:latin typeface="+mn-lt"/>
                        </a:rPr>
                        <a:t> intake. </a:t>
                      </a:r>
                    </a:p>
                  </a:txBody>
                  <a:tcPr marL="36000" marR="36000" marT="20000" marB="20000" anchor="ctr">
                    <a:solidFill>
                      <a:srgbClr val="2C3644"/>
                    </a:solidFill>
                  </a:tcPr>
                </a:tc>
                <a:extLst>
                  <a:ext uri="{0D108BD9-81ED-4DB2-BD59-A6C34878D82A}">
                    <a16:rowId xmlns:a16="http://schemas.microsoft.com/office/drawing/2014/main" val="10010"/>
                  </a:ext>
                </a:extLst>
              </a:tr>
              <a:tr h="178308">
                <a:tc>
                  <a:txBody>
                    <a:bodyPr/>
                    <a:lstStyle/>
                    <a:p>
                      <a:pPr>
                        <a:spcBef>
                          <a:spcPts val="0"/>
                        </a:spcBef>
                        <a:spcAft>
                          <a:spcPts val="0"/>
                        </a:spcAft>
                      </a:pPr>
                      <a:r>
                        <a:rPr sz="900" b="1">
                          <a:solidFill>
                            <a:srgbClr val="FFFFFF"/>
                          </a:solidFill>
                          <a:latin typeface="Calibri"/>
                        </a:rPr>
                        <a:t>  intake</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.duration .severity_0_10 .severity_note .quality .provocative .palliative .comorbidities</a:t>
                      </a:r>
                    </a:p>
                  </a:txBody>
                  <a:tcPr marL="36000" marR="36000" marT="20000" marB="20000" anchor="ctr">
                    <a:solidFill>
                      <a:srgbClr val="2C3644"/>
                    </a:solidFill>
                  </a:tcPr>
                </a:tc>
                <a:tc>
                  <a:txBody>
                    <a:bodyPr/>
                    <a:lstStyle/>
                    <a:p>
                      <a:pPr>
                        <a:spcBef>
                          <a:spcPts val="0"/>
                        </a:spcBef>
                        <a:spcAft>
                          <a:spcPts val="0"/>
                        </a:spcAft>
                      </a:pPr>
                      <a:r>
                        <a:rPr lang="en-CA" sz="900" b="0" dirty="0" err="1">
                          <a:solidFill>
                            <a:srgbClr val="FFFFFF"/>
                          </a:solidFill>
                          <a:latin typeface="+mn-lt"/>
                        </a:rPr>
                        <a:t>DigiMSK</a:t>
                      </a:r>
                      <a:r>
                        <a:rPr lang="en-CA" sz="900" b="0" dirty="0">
                          <a:solidFill>
                            <a:srgbClr val="FFFFFF"/>
                          </a:solidFill>
                          <a:latin typeface="+mn-lt"/>
                        </a:rPr>
                        <a:t> intake. </a:t>
                      </a:r>
                    </a:p>
                  </a:txBody>
                  <a:tcPr marL="36000" marR="36000" marT="20000" marB="20000" anchor="ctr">
                    <a:solidFill>
                      <a:srgbClr val="2C3644"/>
                    </a:solidFill>
                  </a:tcPr>
                </a:tc>
                <a:extLst>
                  <a:ext uri="{0D108BD9-81ED-4DB2-BD59-A6C34878D82A}">
                    <a16:rowId xmlns:a16="http://schemas.microsoft.com/office/drawing/2014/main" val="10011"/>
                  </a:ext>
                </a:extLst>
              </a:tr>
              <a:tr h="178308">
                <a:tc>
                  <a:txBody>
                    <a:bodyPr/>
                    <a:lstStyle/>
                    <a:p>
                      <a:pPr>
                        <a:spcBef>
                          <a:spcPts val="0"/>
                        </a:spcBef>
                        <a:spcAft>
                          <a:spcPts val="0"/>
                        </a:spcAft>
                      </a:pPr>
                      <a:r>
                        <a:rPr sz="900" b="1">
                          <a:solidFill>
                            <a:srgbClr val="FFFFFF"/>
                          </a:solidFill>
                          <a:latin typeface="Calibri"/>
                        </a:rPr>
                        <a:t>  red_flag_self_report</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.trauma .leg_weakness .saddle_numbness .bladder_bowel .fever .unexplained_weight_loss .night_pain_waking</a:t>
                      </a:r>
                    </a:p>
                  </a:txBody>
                  <a:tcPr marL="36000" marR="36000" marT="20000" marB="20000" anchor="ctr">
                    <a:solidFill>
                      <a:srgbClr val="2C3644"/>
                    </a:solidFill>
                  </a:tcPr>
                </a:tc>
                <a:tc>
                  <a:txBody>
                    <a:bodyPr/>
                    <a:lstStyle/>
                    <a:p>
                      <a:pPr>
                        <a:spcBef>
                          <a:spcPts val="0"/>
                        </a:spcBef>
                        <a:spcAft>
                          <a:spcPts val="0"/>
                        </a:spcAft>
                      </a:pPr>
                      <a:r>
                        <a:rPr lang="en-CA" sz="900" b="0" dirty="0" err="1">
                          <a:solidFill>
                            <a:srgbClr val="FFFFFF"/>
                          </a:solidFill>
                          <a:latin typeface="+mn-lt"/>
                        </a:rPr>
                        <a:t>DigiMSK</a:t>
                      </a:r>
                      <a:r>
                        <a:rPr lang="en-CA" sz="900" b="0" dirty="0">
                          <a:solidFill>
                            <a:srgbClr val="FFFFFF"/>
                          </a:solidFill>
                          <a:latin typeface="+mn-lt"/>
                        </a:rPr>
                        <a:t> intake. </a:t>
                      </a:r>
                    </a:p>
                  </a:txBody>
                  <a:tcPr marL="36000" marR="36000" marT="20000" marB="20000" anchor="ctr">
                    <a:solidFill>
                      <a:srgbClr val="2C3644"/>
                    </a:solidFill>
                  </a:tcPr>
                </a:tc>
                <a:extLst>
                  <a:ext uri="{0D108BD9-81ED-4DB2-BD59-A6C34878D82A}">
                    <a16:rowId xmlns:a16="http://schemas.microsoft.com/office/drawing/2014/main" val="10012"/>
                  </a:ext>
                </a:extLst>
              </a:tr>
              <a:tr h="178308">
                <a:tc>
                  <a:txBody>
                    <a:bodyPr/>
                    <a:lstStyle/>
                    <a:p>
                      <a:pPr>
                        <a:spcBef>
                          <a:spcPts val="0"/>
                        </a:spcBef>
                        <a:spcAft>
                          <a:spcPts val="0"/>
                        </a:spcAft>
                      </a:pPr>
                      <a:r>
                        <a:rPr sz="900" b="1">
                          <a:solidFill>
                            <a:srgbClr val="FFFFFF"/>
                          </a:solidFill>
                          <a:latin typeface="Calibri"/>
                        </a:rPr>
                        <a:t>  past_medical_history</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Cancer, osteoporosis, steroids, diabetes, prior episodes, …</a:t>
                      </a:r>
                    </a:p>
                  </a:txBody>
                  <a:tcPr marL="36000" marR="36000" marT="20000" marB="20000" anchor="ctr">
                    <a:solidFill>
                      <a:srgbClr val="2C3644"/>
                    </a:solidFill>
                  </a:tcPr>
                </a:tc>
                <a:tc>
                  <a:txBody>
                    <a:bodyPr/>
                    <a:lstStyle/>
                    <a:p>
                      <a:pPr>
                        <a:spcBef>
                          <a:spcPts val="0"/>
                        </a:spcBef>
                        <a:spcAft>
                          <a:spcPts val="0"/>
                        </a:spcAft>
                      </a:pPr>
                      <a:r>
                        <a:rPr lang="en-CA" sz="900" b="0" dirty="0" err="1">
                          <a:solidFill>
                            <a:srgbClr val="FFFFFF"/>
                          </a:solidFill>
                          <a:latin typeface="+mn-lt"/>
                        </a:rPr>
                        <a:t>DigiMSK</a:t>
                      </a:r>
                      <a:r>
                        <a:rPr lang="en-CA" sz="900" b="0" dirty="0">
                          <a:solidFill>
                            <a:srgbClr val="FFFFFF"/>
                          </a:solidFill>
                          <a:latin typeface="+mn-lt"/>
                        </a:rPr>
                        <a:t> intake. </a:t>
                      </a:r>
                    </a:p>
                  </a:txBody>
                  <a:tcPr marL="36000" marR="36000" marT="20000" marB="20000" anchor="ctr">
                    <a:solidFill>
                      <a:srgbClr val="2C3644"/>
                    </a:solidFill>
                  </a:tcPr>
                </a:tc>
                <a:extLst>
                  <a:ext uri="{0D108BD9-81ED-4DB2-BD59-A6C34878D82A}">
                    <a16:rowId xmlns:a16="http://schemas.microsoft.com/office/drawing/2014/main" val="10013"/>
                  </a:ext>
                </a:extLst>
              </a:tr>
              <a:tr h="178308">
                <a:tc>
                  <a:txBody>
                    <a:bodyPr/>
                    <a:lstStyle/>
                    <a:p>
                      <a:pPr>
                        <a:spcBef>
                          <a:spcPts val="0"/>
                        </a:spcBef>
                        <a:spcAft>
                          <a:spcPts val="0"/>
                        </a:spcAft>
                      </a:pPr>
                      <a:r>
                        <a:rPr sz="900" b="1">
                          <a:solidFill>
                            <a:srgbClr val="FFFFFF"/>
                          </a:solidFill>
                          <a:latin typeface="Calibri"/>
                        </a:rPr>
                        <a:t>  social_history</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Work, lifting, smoking, alcohol — if on-card</a:t>
                      </a:r>
                    </a:p>
                  </a:txBody>
                  <a:tcPr marL="36000" marR="36000" marT="20000" marB="20000" anchor="ctr">
                    <a:solidFill>
                      <a:srgbClr val="2C3644"/>
                    </a:solidFill>
                  </a:tcPr>
                </a:tc>
                <a:tc>
                  <a:txBody>
                    <a:bodyPr/>
                    <a:lstStyle/>
                    <a:p>
                      <a:pPr>
                        <a:spcBef>
                          <a:spcPts val="0"/>
                        </a:spcBef>
                        <a:spcAft>
                          <a:spcPts val="0"/>
                        </a:spcAft>
                      </a:pPr>
                      <a:r>
                        <a:rPr lang="en-CA" sz="900" b="0" dirty="0" err="1">
                          <a:solidFill>
                            <a:srgbClr val="FFFFFF"/>
                          </a:solidFill>
                          <a:latin typeface="+mn-lt"/>
                        </a:rPr>
                        <a:t>DigiMSK</a:t>
                      </a:r>
                      <a:r>
                        <a:rPr lang="en-CA" sz="900" b="0" dirty="0">
                          <a:solidFill>
                            <a:srgbClr val="FFFFFF"/>
                          </a:solidFill>
                          <a:latin typeface="+mn-lt"/>
                        </a:rPr>
                        <a:t> intake. </a:t>
                      </a:r>
                    </a:p>
                  </a:txBody>
                  <a:tcPr marL="36000" marR="36000" marT="20000" marB="20000" anchor="ctr">
                    <a:solidFill>
                      <a:srgbClr val="2C3644"/>
                    </a:solidFill>
                  </a:tcPr>
                </a:tc>
                <a:extLst>
                  <a:ext uri="{0D108BD9-81ED-4DB2-BD59-A6C34878D82A}">
                    <a16:rowId xmlns:a16="http://schemas.microsoft.com/office/drawing/2014/main" val="10014"/>
                  </a:ext>
                </a:extLst>
              </a:tr>
              <a:tr h="178308">
                <a:tc>
                  <a:txBody>
                    <a:bodyPr/>
                    <a:lstStyle/>
                    <a:p>
                      <a:pPr>
                        <a:spcBef>
                          <a:spcPts val="0"/>
                        </a:spcBef>
                        <a:spcAft>
                          <a:spcPts val="0"/>
                        </a:spcAft>
                      </a:pPr>
                      <a:r>
                        <a:rPr sz="900" b="1">
                          <a:solidFill>
                            <a:srgbClr val="FFFFFF"/>
                          </a:solidFill>
                          <a:latin typeface="Calibri"/>
                        </a:rPr>
                        <a:t>  review_of_systems</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Explicit denials (no fever, no saddle numbness, …)</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So</a:t>
                      </a:r>
                      <a:r>
                        <a:rPr lang="en-US" sz="900" b="0" dirty="0">
                          <a:solidFill>
                            <a:srgbClr val="FFFFFF"/>
                          </a:solidFill>
                          <a:latin typeface="Calibri"/>
                        </a:rPr>
                        <a:t> that</a:t>
                      </a:r>
                      <a:r>
                        <a:rPr sz="900" b="0" dirty="0">
                          <a:solidFill>
                            <a:srgbClr val="FFFFFF"/>
                          </a:solidFill>
                          <a:latin typeface="Calibri"/>
                        </a:rPr>
                        <a:t> “no” is grounde</a:t>
                      </a:r>
                      <a:r>
                        <a:rPr lang="en-US" sz="900" b="0" dirty="0">
                          <a:solidFill>
                            <a:srgbClr val="FFFFFF"/>
                          </a:solidFill>
                          <a:latin typeface="Calibri"/>
                        </a:rPr>
                        <a:t>d- reduces likelihood of </a:t>
                      </a:r>
                      <a:r>
                        <a:rPr lang="en-US" sz="900" b="0" dirty="0" err="1">
                          <a:solidFill>
                            <a:srgbClr val="FFFFFF"/>
                          </a:solidFill>
                          <a:latin typeface="Calibri"/>
                        </a:rPr>
                        <a:t>patient_agent</a:t>
                      </a:r>
                      <a:r>
                        <a:rPr lang="en-US" sz="900" b="0" dirty="0">
                          <a:solidFill>
                            <a:srgbClr val="FFFFFF"/>
                          </a:solidFill>
                          <a:latin typeface="Calibri"/>
                        </a:rPr>
                        <a:t> guessing/hallucination</a:t>
                      </a:r>
                      <a:endParaRPr sz="900" b="0" dirty="0">
                        <a:solidFill>
                          <a:srgbClr val="FFFFFF"/>
                        </a:solidFill>
                        <a:latin typeface="Calibri"/>
                      </a:endParaRPr>
                    </a:p>
                  </a:txBody>
                  <a:tcPr marL="36000" marR="36000" marT="20000" marB="20000" anchor="ctr">
                    <a:solidFill>
                      <a:srgbClr val="2C3644"/>
                    </a:solidFill>
                  </a:tcPr>
                </a:tc>
                <a:extLst>
                  <a:ext uri="{0D108BD9-81ED-4DB2-BD59-A6C34878D82A}">
                    <a16:rowId xmlns:a16="http://schemas.microsoft.com/office/drawing/2014/main" val="10015"/>
                  </a:ext>
                </a:extLst>
              </a:tr>
              <a:tr h="178308">
                <a:tc>
                  <a:txBody>
                    <a:bodyPr/>
                    <a:lstStyle/>
                    <a:p>
                      <a:pPr>
                        <a:spcBef>
                          <a:spcPts val="0"/>
                        </a:spcBef>
                        <a:spcAft>
                          <a:spcPts val="0"/>
                        </a:spcAft>
                      </a:pPr>
                      <a:r>
                        <a:rPr sz="900" b="1">
                          <a:solidFill>
                            <a:srgbClr val="FFFFFF"/>
                          </a:solidFill>
                          <a:latin typeface="Calibri"/>
                        </a:rPr>
                        <a:t>  unknowns[]</a:t>
                      </a:r>
                    </a:p>
                  </a:txBody>
                  <a:tcPr marL="36000" marR="36000" marT="20000" marB="20000" anchor="ctr">
                    <a:solidFill>
                      <a:srgbClr val="2C3644"/>
                    </a:solidFill>
                  </a:tcPr>
                </a:tc>
                <a:tc>
                  <a:txBody>
                    <a:bodyPr/>
                    <a:lstStyle/>
                    <a:p>
                      <a:pPr>
                        <a:spcBef>
                          <a:spcPts val="0"/>
                        </a:spcBef>
                        <a:spcAft>
                          <a:spcPts val="0"/>
                        </a:spcAft>
                      </a:pPr>
                      <a:r>
                        <a:rPr sz="900" b="0" dirty="0">
                          <a:solidFill>
                            <a:srgbClr val="FFFFFF"/>
                          </a:solidFill>
                          <a:latin typeface="Calibri"/>
                        </a:rPr>
                        <a:t>Imaging, labs, exam, anything </a:t>
                      </a:r>
                      <a:r>
                        <a:rPr lang="en-US" sz="900" b="0" dirty="0">
                          <a:solidFill>
                            <a:srgbClr val="FFFFFF"/>
                          </a:solidFill>
                          <a:latin typeface="Calibri"/>
                        </a:rPr>
                        <a:t>we want to deliberately add as “not known” </a:t>
                      </a:r>
                      <a:endParaRPr sz="900" b="0" dirty="0">
                        <a:solidFill>
                          <a:srgbClr val="FFFFFF"/>
                        </a:solidFill>
                        <a:latin typeface="Calibri"/>
                      </a:endParaRPr>
                    </a:p>
                  </a:txBody>
                  <a:tcPr marL="36000" marR="36000" marT="20000" marB="20000" anchor="ctr">
                    <a:solidFill>
                      <a:srgbClr val="2C3644"/>
                    </a:solidFill>
                  </a:tcPr>
                </a:tc>
                <a:tc>
                  <a:txBody>
                    <a:bodyPr/>
                    <a:lstStyle/>
                    <a:p>
                      <a:pPr>
                        <a:spcBef>
                          <a:spcPts val="0"/>
                        </a:spcBef>
                        <a:spcAft>
                          <a:spcPts val="0"/>
                        </a:spcAft>
                      </a:pPr>
                      <a:r>
                        <a:rPr lang="en-US" sz="900" b="0" dirty="0" err="1">
                          <a:solidFill>
                            <a:srgbClr val="FFFFFF"/>
                          </a:solidFill>
                          <a:latin typeface="Calibri"/>
                        </a:rPr>
                        <a:t>Patient_agent</a:t>
                      </a:r>
                      <a:r>
                        <a:rPr lang="en-US" sz="900" b="0" dirty="0">
                          <a:solidFill>
                            <a:srgbClr val="FFFFFF"/>
                          </a:solidFill>
                          <a:latin typeface="Calibri"/>
                        </a:rPr>
                        <a:t> m</a:t>
                      </a:r>
                      <a:r>
                        <a:rPr sz="900" b="0" dirty="0">
                          <a:solidFill>
                            <a:srgbClr val="FFFFFF"/>
                          </a:solidFill>
                          <a:latin typeface="Calibri"/>
                        </a:rPr>
                        <a:t>ust answer “I’m not sure” / “nobody’s told me.”</a:t>
                      </a:r>
                    </a:p>
                  </a:txBody>
                  <a:tcPr marL="36000" marR="36000" marT="20000" marB="20000" anchor="ctr">
                    <a:solidFill>
                      <a:srgbClr val="2C3644"/>
                    </a:solidFill>
                  </a:tcPr>
                </a:tc>
                <a:extLst>
                  <a:ext uri="{0D108BD9-81ED-4DB2-BD59-A6C34878D82A}">
                    <a16:rowId xmlns:a16="http://schemas.microsoft.com/office/drawing/2014/main" val="10016"/>
                  </a:ext>
                </a:extLst>
              </a:tr>
              <a:tr h="178308">
                <a:tc>
                  <a:txBody>
                    <a:bodyPr/>
                    <a:lstStyle/>
                    <a:p>
                      <a:pPr>
                        <a:spcBef>
                          <a:spcPts val="0"/>
                        </a:spcBef>
                        <a:spcAft>
                          <a:spcPts val="0"/>
                        </a:spcAft>
                      </a:pPr>
                      <a:r>
                        <a:rPr sz="900" b="1">
                          <a:solidFill>
                            <a:srgbClr val="FFFFFF"/>
                          </a:solidFill>
                          <a:latin typeface="Calibri"/>
                        </a:rPr>
                        <a:t>  persona.personality</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impatient | overanxious | distrustful | overly_positive | verbose | neutral</a:t>
                      </a:r>
                    </a:p>
                  </a:txBody>
                  <a:tcPr marL="36000" marR="36000" marT="20000" marB="20000" anchor="ctr">
                    <a:solidFill>
                      <a:srgbClr val="2C3644"/>
                    </a:solidFill>
                  </a:tcPr>
                </a:tc>
                <a:tc>
                  <a:txBody>
                    <a:bodyPr/>
                    <a:lstStyle/>
                    <a:p>
                      <a:pPr>
                        <a:spcBef>
                          <a:spcPts val="0"/>
                        </a:spcBef>
                        <a:spcAft>
                          <a:spcPts val="0"/>
                        </a:spcAft>
                      </a:pPr>
                      <a:r>
                        <a:rPr lang="en-US" sz="900" b="0" dirty="0">
                          <a:solidFill>
                            <a:srgbClr val="FFFFFF"/>
                          </a:solidFill>
                          <a:latin typeface="Calibri"/>
                        </a:rPr>
                        <a:t>Persona tuning</a:t>
                      </a:r>
                      <a:endParaRPr sz="900" b="0" dirty="0">
                        <a:solidFill>
                          <a:srgbClr val="FFFFFF"/>
                        </a:solidFill>
                        <a:latin typeface="Calibri"/>
                      </a:endParaRPr>
                    </a:p>
                  </a:txBody>
                  <a:tcPr marL="36000" marR="36000" marT="20000" marB="20000" anchor="ctr">
                    <a:solidFill>
                      <a:srgbClr val="2C3644"/>
                    </a:solidFill>
                  </a:tcPr>
                </a:tc>
                <a:extLst>
                  <a:ext uri="{0D108BD9-81ED-4DB2-BD59-A6C34878D82A}">
                    <a16:rowId xmlns:a16="http://schemas.microsoft.com/office/drawing/2014/main" val="10017"/>
                  </a:ext>
                </a:extLst>
              </a:tr>
              <a:tr h="178308">
                <a:tc>
                  <a:txBody>
                    <a:bodyPr/>
                    <a:lstStyle/>
                    <a:p>
                      <a:pPr>
                        <a:spcBef>
                          <a:spcPts val="0"/>
                        </a:spcBef>
                        <a:spcAft>
                          <a:spcPts val="0"/>
                        </a:spcAft>
                      </a:pPr>
                      <a:r>
                        <a:rPr sz="900" b="1">
                          <a:solidFill>
                            <a:srgbClr val="FFFFFF"/>
                          </a:solidFill>
                          <a:latin typeface="Calibri"/>
                        </a:rPr>
                        <a:t>  persona.language_proficiency</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basic | intermediate | advanced</a:t>
                      </a:r>
                    </a:p>
                  </a:txBody>
                  <a:tcPr marL="36000" marR="36000" marT="20000" marB="20000" anchor="ctr">
                    <a:solidFill>
                      <a:srgbClr val="2C3644"/>
                    </a:solidFill>
                  </a:tcPr>
                </a:tc>
                <a:tc>
                  <a:txBody>
                    <a:bodyPr/>
                    <a:lstStyle/>
                    <a:p>
                      <a:pPr>
                        <a:spcBef>
                          <a:spcPts val="0"/>
                        </a:spcBef>
                        <a:spcAft>
                          <a:spcPts val="0"/>
                        </a:spcAft>
                      </a:pPr>
                      <a:r>
                        <a:rPr lang="en-US" sz="900" b="0" dirty="0">
                          <a:solidFill>
                            <a:srgbClr val="FFFFFF"/>
                          </a:solidFill>
                          <a:latin typeface="Calibri"/>
                        </a:rPr>
                        <a:t>Bias toggle</a:t>
                      </a:r>
                      <a:endParaRPr sz="900" b="0" dirty="0">
                        <a:solidFill>
                          <a:srgbClr val="FFFFFF"/>
                        </a:solidFill>
                        <a:latin typeface="Calibri"/>
                      </a:endParaRPr>
                    </a:p>
                  </a:txBody>
                  <a:tcPr marL="36000" marR="36000" marT="20000" marB="20000" anchor="ctr">
                    <a:solidFill>
                      <a:srgbClr val="2C3644"/>
                    </a:solidFill>
                  </a:tcPr>
                </a:tc>
                <a:extLst>
                  <a:ext uri="{0D108BD9-81ED-4DB2-BD59-A6C34878D82A}">
                    <a16:rowId xmlns:a16="http://schemas.microsoft.com/office/drawing/2014/main" val="10018"/>
                  </a:ext>
                </a:extLst>
              </a:tr>
              <a:tr h="178308">
                <a:tc>
                  <a:txBody>
                    <a:bodyPr/>
                    <a:lstStyle/>
                    <a:p>
                      <a:pPr>
                        <a:spcBef>
                          <a:spcPts val="0"/>
                        </a:spcBef>
                        <a:spcAft>
                          <a:spcPts val="0"/>
                        </a:spcAft>
                      </a:pPr>
                      <a:r>
                        <a:rPr sz="900" b="1">
                          <a:solidFill>
                            <a:srgbClr val="FFFFFF"/>
                          </a:solidFill>
                          <a:latin typeface="Calibri"/>
                        </a:rPr>
                        <a:t>  persona.medical_history_recall</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high_recall | low_recall</a:t>
                      </a:r>
                    </a:p>
                  </a:txBody>
                  <a:tcPr marL="36000" marR="36000" marT="20000" marB="20000" anchor="ctr">
                    <a:solidFill>
                      <a:srgbClr val="2C3644"/>
                    </a:solidFill>
                  </a:tcPr>
                </a:tc>
                <a:tc>
                  <a:txBody>
                    <a:bodyPr/>
                    <a:lstStyle/>
                    <a:p>
                      <a:pPr>
                        <a:spcBef>
                          <a:spcPts val="0"/>
                        </a:spcBef>
                        <a:spcAft>
                          <a:spcPts val="0"/>
                        </a:spcAft>
                      </a:pPr>
                      <a:r>
                        <a:rPr lang="en-US" sz="900" b="0" dirty="0">
                          <a:solidFill>
                            <a:srgbClr val="FFFFFF"/>
                          </a:solidFill>
                          <a:latin typeface="+mn-lt"/>
                        </a:rPr>
                        <a:t>Bias toggle</a:t>
                      </a:r>
                    </a:p>
                  </a:txBody>
                  <a:tcPr marL="36000" marR="36000" marT="20000" marB="20000" anchor="ctr">
                    <a:solidFill>
                      <a:srgbClr val="2C3644"/>
                    </a:solidFill>
                  </a:tcPr>
                </a:tc>
                <a:extLst>
                  <a:ext uri="{0D108BD9-81ED-4DB2-BD59-A6C34878D82A}">
                    <a16:rowId xmlns:a16="http://schemas.microsoft.com/office/drawing/2014/main" val="10019"/>
                  </a:ext>
                </a:extLst>
              </a:tr>
              <a:tr h="178308">
                <a:tc>
                  <a:txBody>
                    <a:bodyPr/>
                    <a:lstStyle/>
                    <a:p>
                      <a:pPr>
                        <a:spcBef>
                          <a:spcPts val="0"/>
                        </a:spcBef>
                        <a:spcAft>
                          <a:spcPts val="0"/>
                        </a:spcAft>
                      </a:pPr>
                      <a:r>
                        <a:rPr sz="900" b="1">
                          <a:solidFill>
                            <a:srgbClr val="FFFFFF"/>
                          </a:solidFill>
                          <a:latin typeface="Calibri"/>
                        </a:rPr>
                        <a:t>  persona.cognitive_confusion</a:t>
                      </a:r>
                    </a:p>
                  </a:txBody>
                  <a:tcPr marL="36000" marR="36000" marT="20000" marB="20000" anchor="ctr">
                    <a:solidFill>
                      <a:srgbClr val="2C3644"/>
                    </a:solidFill>
                  </a:tcPr>
                </a:tc>
                <a:tc>
                  <a:txBody>
                    <a:bodyPr/>
                    <a:lstStyle/>
                    <a:p>
                      <a:pPr>
                        <a:spcBef>
                          <a:spcPts val="0"/>
                        </a:spcBef>
                        <a:spcAft>
                          <a:spcPts val="0"/>
                        </a:spcAft>
                      </a:pPr>
                      <a:r>
                        <a:rPr sz="900" b="0">
                          <a:solidFill>
                            <a:srgbClr val="FFFFFF"/>
                          </a:solidFill>
                          <a:latin typeface="Calibri"/>
                        </a:rPr>
                        <a:t>highly_confused | normal</a:t>
                      </a:r>
                    </a:p>
                  </a:txBody>
                  <a:tcPr marL="36000" marR="36000" marT="20000" marB="20000" anchor="ctr">
                    <a:solidFill>
                      <a:srgbClr val="2C3644"/>
                    </a:solidFill>
                  </a:tcPr>
                </a:tc>
                <a:tc>
                  <a:txBody>
                    <a:bodyPr/>
                    <a:lstStyle/>
                    <a:p>
                      <a:pPr>
                        <a:spcBef>
                          <a:spcPts val="0"/>
                        </a:spcBef>
                        <a:spcAft>
                          <a:spcPts val="0"/>
                        </a:spcAft>
                      </a:pPr>
                      <a:r>
                        <a:rPr lang="en-US" sz="900" b="0" dirty="0">
                          <a:solidFill>
                            <a:srgbClr val="FFFFFF"/>
                          </a:solidFill>
                          <a:latin typeface="+mn-lt"/>
                        </a:rPr>
                        <a:t>Bias toggle</a:t>
                      </a:r>
                    </a:p>
                  </a:txBody>
                  <a:tcPr marL="36000" marR="36000" marT="20000" marB="20000" anchor="ctr">
                    <a:solidFill>
                      <a:srgbClr val="2C3644"/>
                    </a:solidFill>
                  </a:tcPr>
                </a:tc>
                <a:extLst>
                  <a:ext uri="{0D108BD9-81ED-4DB2-BD59-A6C34878D82A}">
                    <a16:rowId xmlns:a16="http://schemas.microsoft.com/office/drawing/2014/main" val="10020"/>
                  </a:ext>
                </a:extLst>
              </a:tr>
              <a:tr h="178308">
                <a:tc>
                  <a:txBody>
                    <a:bodyPr/>
                    <a:lstStyle/>
                    <a:p>
                      <a:pPr>
                        <a:spcBef>
                          <a:spcPts val="0"/>
                        </a:spcBef>
                        <a:spcAft>
                          <a:spcPts val="0"/>
                        </a:spcAft>
                      </a:pPr>
                      <a:r>
                        <a:rPr sz="900" b="0">
                          <a:solidFill>
                            <a:srgbClr val="C8CDD6"/>
                          </a:solidFill>
                          <a:latin typeface="Calibri"/>
                        </a:rPr>
                        <a:t>Hidden</a:t>
                      </a:r>
                    </a:p>
                  </a:txBody>
                  <a:tcPr marL="36000" marR="36000" marT="20000" marB="20000" anchor="ctr">
                    <a:solidFill>
                      <a:srgbClr val="32323A"/>
                    </a:solidFill>
                  </a:tcPr>
                </a:tc>
                <a:tc>
                  <a:txBody>
                    <a:bodyPr/>
                    <a:lstStyle/>
                    <a:p>
                      <a:pPr>
                        <a:spcBef>
                          <a:spcPts val="0"/>
                        </a:spcBef>
                        <a:spcAft>
                          <a:spcPts val="0"/>
                        </a:spcAft>
                      </a:pPr>
                      <a:r>
                        <a:rPr lang="en-US" sz="900" b="0" dirty="0">
                          <a:solidFill>
                            <a:srgbClr val="C8CDD6"/>
                          </a:solidFill>
                          <a:latin typeface="Calibri"/>
                        </a:rPr>
                        <a:t>Dev/testing data </a:t>
                      </a:r>
                      <a:endParaRPr sz="900" b="0" dirty="0">
                        <a:solidFill>
                          <a:srgbClr val="C8CDD6"/>
                        </a:solidFill>
                        <a:latin typeface="Calibri"/>
                      </a:endParaRP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Never copied into either prompt. </a:t>
                      </a:r>
                    </a:p>
                  </a:txBody>
                  <a:tcPr marL="36000" marR="36000" marT="20000" marB="20000" anchor="ctr">
                    <a:solidFill>
                      <a:srgbClr val="32323A"/>
                    </a:solidFill>
                  </a:tcPr>
                </a:tc>
                <a:extLst>
                  <a:ext uri="{0D108BD9-81ED-4DB2-BD59-A6C34878D82A}">
                    <a16:rowId xmlns:a16="http://schemas.microsoft.com/office/drawing/2014/main" val="10021"/>
                  </a:ext>
                </a:extLst>
              </a:tr>
              <a:tr h="178308">
                <a:tc>
                  <a:txBody>
                    <a:bodyPr/>
                    <a:lstStyle/>
                    <a:p>
                      <a:pPr>
                        <a:spcBef>
                          <a:spcPts val="0"/>
                        </a:spcBef>
                        <a:spcAft>
                          <a:spcPts val="0"/>
                        </a:spcAft>
                      </a:pPr>
                      <a:r>
                        <a:rPr sz="900" b="0">
                          <a:solidFill>
                            <a:srgbClr val="C8CDD6"/>
                          </a:solidFill>
                          <a:latin typeface="Calibri"/>
                        </a:rPr>
                        <a:t>  reference_disposition</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Clinician / Ada target (home / GP / ED, …)</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The grade, not an input. Do not feed it to </a:t>
                      </a:r>
                      <a:r>
                        <a:rPr sz="900" b="0" dirty="0" err="1">
                          <a:solidFill>
                            <a:srgbClr val="C8CDD6"/>
                          </a:solidFill>
                          <a:latin typeface="Calibri"/>
                        </a:rPr>
                        <a:t>DigiMSK</a:t>
                      </a:r>
                      <a:r>
                        <a:rPr sz="900" b="0" dirty="0">
                          <a:solidFill>
                            <a:srgbClr val="C8CDD6"/>
                          </a:solidFill>
                          <a:latin typeface="Calibri"/>
                        </a:rPr>
                        <a:t>.</a:t>
                      </a:r>
                    </a:p>
                  </a:txBody>
                  <a:tcPr marL="36000" marR="36000" marT="20000" marB="20000" anchor="ctr">
                    <a:solidFill>
                      <a:srgbClr val="32323A"/>
                    </a:solidFill>
                  </a:tcPr>
                </a:tc>
                <a:extLst>
                  <a:ext uri="{0D108BD9-81ED-4DB2-BD59-A6C34878D82A}">
                    <a16:rowId xmlns:a16="http://schemas.microsoft.com/office/drawing/2014/main" val="10023"/>
                  </a:ext>
                </a:extLst>
              </a:tr>
              <a:tr h="178308">
                <a:tc>
                  <a:txBody>
                    <a:bodyPr/>
                    <a:lstStyle/>
                    <a:p>
                      <a:pPr>
                        <a:spcBef>
                          <a:spcPts val="0"/>
                        </a:spcBef>
                        <a:spcAft>
                          <a:spcPts val="0"/>
                        </a:spcAft>
                      </a:pPr>
                      <a:r>
                        <a:rPr sz="900" b="0">
                          <a:solidFill>
                            <a:srgbClr val="C8CDD6"/>
                          </a:solidFill>
                          <a:latin typeface="Calibri"/>
                        </a:rPr>
                        <a:t>  reference_labels</a:t>
                      </a: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mechanical | CES | fracture | malignancy | infection | </a:t>
                      </a:r>
                      <a:r>
                        <a:rPr lang="en-US" sz="900" b="0" dirty="0">
                          <a:solidFill>
                            <a:srgbClr val="C8CDD6"/>
                          </a:solidFill>
                          <a:latin typeface="Calibri"/>
                        </a:rPr>
                        <a:t>vascular</a:t>
                      </a:r>
                      <a:endParaRPr sz="900" b="0" dirty="0">
                        <a:solidFill>
                          <a:srgbClr val="C8CDD6"/>
                        </a:solidFill>
                        <a:latin typeface="Calibri"/>
                      </a:endParaRP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Scoring labels</a:t>
                      </a:r>
                      <a:r>
                        <a:rPr lang="en-US" sz="900" b="0" dirty="0">
                          <a:solidFill>
                            <a:srgbClr val="C8CDD6"/>
                          </a:solidFill>
                          <a:latin typeface="Calibri"/>
                        </a:rPr>
                        <a:t> for LBP family- based on red flags knowledge base</a:t>
                      </a:r>
                      <a:endParaRPr sz="900" b="0" dirty="0">
                        <a:solidFill>
                          <a:srgbClr val="C8CDD6"/>
                        </a:solidFill>
                        <a:latin typeface="Calibri"/>
                      </a:endParaRPr>
                    </a:p>
                  </a:txBody>
                  <a:tcPr marL="36000" marR="36000" marT="20000" marB="20000" anchor="ctr">
                    <a:solidFill>
                      <a:srgbClr val="32323A"/>
                    </a:solidFill>
                  </a:tcPr>
                </a:tc>
                <a:extLst>
                  <a:ext uri="{0D108BD9-81ED-4DB2-BD59-A6C34878D82A}">
                    <a16:rowId xmlns:a16="http://schemas.microsoft.com/office/drawing/2014/main" val="10024"/>
                  </a:ext>
                </a:extLst>
              </a:tr>
              <a:tr h="178308">
                <a:tc>
                  <a:txBody>
                    <a:bodyPr/>
                    <a:lstStyle/>
                    <a:p>
                      <a:pPr>
                        <a:spcBef>
                          <a:spcPts val="0"/>
                        </a:spcBef>
                        <a:spcAft>
                          <a:spcPts val="0"/>
                        </a:spcAft>
                      </a:pPr>
                      <a:r>
                        <a:rPr sz="900" b="0" dirty="0">
                          <a:solidFill>
                            <a:srgbClr val="C8CDD6"/>
                          </a:solidFill>
                          <a:latin typeface="Calibri"/>
                        </a:rPr>
                        <a:t>  </a:t>
                      </a:r>
                      <a:r>
                        <a:rPr sz="900" b="0" dirty="0" err="1">
                          <a:solidFill>
                            <a:srgbClr val="C8CDD6"/>
                          </a:solidFill>
                          <a:latin typeface="Calibri"/>
                        </a:rPr>
                        <a:t>must_elicit</a:t>
                      </a:r>
                      <a:endParaRPr sz="900" b="0" dirty="0">
                        <a:solidFill>
                          <a:srgbClr val="C8CDD6"/>
                        </a:solidFill>
                        <a:latin typeface="Calibri"/>
                      </a:endParaRPr>
                    </a:p>
                  </a:txBody>
                  <a:tcPr marL="36000" marR="36000" marT="20000" marB="20000" anchor="ctr">
                    <a:solidFill>
                      <a:srgbClr val="32323A"/>
                    </a:solidFill>
                  </a:tcPr>
                </a:tc>
                <a:tc>
                  <a:txBody>
                    <a:bodyPr/>
                    <a:lstStyle/>
                    <a:p>
                      <a:pPr>
                        <a:spcBef>
                          <a:spcPts val="0"/>
                        </a:spcBef>
                        <a:spcAft>
                          <a:spcPts val="0"/>
                        </a:spcAft>
                      </a:pPr>
                      <a:r>
                        <a:rPr lang="en-US" sz="900" b="0" dirty="0">
                          <a:solidFill>
                            <a:srgbClr val="C8CDD6"/>
                          </a:solidFill>
                          <a:latin typeface="Calibri"/>
                        </a:rPr>
                        <a:t>Questions</a:t>
                      </a:r>
                      <a:r>
                        <a:rPr sz="900" b="0" dirty="0">
                          <a:solidFill>
                            <a:srgbClr val="C8CDD6"/>
                          </a:solidFill>
                          <a:latin typeface="Calibri"/>
                        </a:rPr>
                        <a:t> the bot should have </a:t>
                      </a:r>
                      <a:r>
                        <a:rPr lang="en-US" sz="900" b="0" dirty="0">
                          <a:solidFill>
                            <a:srgbClr val="C8CDD6"/>
                          </a:solidFill>
                          <a:latin typeface="Calibri"/>
                        </a:rPr>
                        <a:t>asked</a:t>
                      </a:r>
                      <a:endParaRPr sz="900" b="0" dirty="0">
                        <a:solidFill>
                          <a:srgbClr val="C8CDD6"/>
                        </a:solidFill>
                        <a:latin typeface="Calibri"/>
                      </a:endParaRPr>
                    </a:p>
                  </a:txBody>
                  <a:tcPr marL="36000" marR="36000" marT="20000" marB="20000" anchor="ctr">
                    <a:solidFill>
                      <a:srgbClr val="32323A"/>
                    </a:solidFill>
                  </a:tcPr>
                </a:tc>
                <a:tc>
                  <a:txBody>
                    <a:bodyPr/>
                    <a:lstStyle/>
                    <a:p>
                      <a:pPr>
                        <a:spcBef>
                          <a:spcPts val="0"/>
                        </a:spcBef>
                        <a:spcAft>
                          <a:spcPts val="0"/>
                        </a:spcAft>
                      </a:pPr>
                      <a:r>
                        <a:rPr sz="900" b="0" dirty="0">
                          <a:solidFill>
                            <a:srgbClr val="C8CDD6"/>
                          </a:solidFill>
                          <a:latin typeface="Calibri"/>
                        </a:rPr>
                        <a:t>Post-hoc checklist (did the bot ask about saddle numbness?).</a:t>
                      </a:r>
                    </a:p>
                  </a:txBody>
                  <a:tcPr marL="36000" marR="36000" marT="20000" marB="20000" anchor="ctr">
                    <a:solidFill>
                      <a:srgbClr val="32323A"/>
                    </a:solidFill>
                  </a:tcPr>
                </a:tc>
                <a:extLst>
                  <a:ext uri="{0D108BD9-81ED-4DB2-BD59-A6C34878D82A}">
                    <a16:rowId xmlns:a16="http://schemas.microsoft.com/office/drawing/2014/main" val="10025"/>
                  </a:ext>
                </a:extLst>
              </a:tr>
            </a:tbl>
          </a:graphicData>
        </a:graphic>
      </p:graphicFrame>
      <p:sp>
        <p:nvSpPr>
          <p:cNvPr id="10" name="TextBox 9">
            <a:extLst>
              <a:ext uri="{FF2B5EF4-FFF2-40B4-BE49-F238E27FC236}">
                <a16:creationId xmlns:a16="http://schemas.microsoft.com/office/drawing/2014/main" id="{A1559FAE-1BE3-3A6C-8A70-E7B529282587}"/>
              </a:ext>
            </a:extLst>
          </p:cNvPr>
          <p:cNvSpPr txBox="1"/>
          <p:nvPr/>
        </p:nvSpPr>
        <p:spPr>
          <a:xfrm>
            <a:off x="11256761" y="6510528"/>
            <a:ext cx="447559" cy="261610"/>
          </a:xfrm>
          <a:prstGeom prst="rect">
            <a:avLst/>
          </a:prstGeom>
          <a:noFill/>
        </p:spPr>
        <p:txBody>
          <a:bodyPr wrap="none">
            <a:spAutoFit/>
          </a:bodyPr>
          <a:lstStyle/>
          <a:p>
            <a:pPr algn="r"/>
            <a:r>
              <a:rPr lang="en-US" sz="1100" dirty="0">
                <a:solidFill>
                  <a:srgbClr val="C8CDD6"/>
                </a:solidFill>
                <a:latin typeface="Calibri"/>
              </a:rPr>
              <a:t>6</a:t>
            </a:r>
            <a:r>
              <a:rPr sz="1100" b="0" dirty="0">
                <a:solidFill>
                  <a:srgbClr val="C8CDD6"/>
                </a:solidFill>
                <a:latin typeface="Calibri"/>
              </a:rPr>
              <a:t> / </a:t>
            </a:r>
            <a:r>
              <a:rPr lang="en-US" sz="1100" dirty="0">
                <a:solidFill>
                  <a:srgbClr val="C8CDD6"/>
                </a:solidFill>
                <a:latin typeface="Calibri"/>
              </a:rPr>
              <a:t>7</a:t>
            </a:r>
            <a:endParaRPr sz="1100" b="0" dirty="0">
              <a:solidFill>
                <a:srgbClr val="C8CDD6"/>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62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
            <a:ext cx="11247120" cy="530352"/>
          </a:xfrm>
          <a:prstGeom prst="rect">
            <a:avLst/>
          </a:prstGeom>
          <a:noFill/>
        </p:spPr>
        <p:txBody>
          <a:bodyPr wrap="square">
            <a:spAutoFit/>
          </a:bodyPr>
          <a:lstStyle/>
          <a:p>
            <a:r>
              <a:rPr sz="2600" b="1">
                <a:solidFill>
                  <a:srgbClr val="FFFFFF"/>
                </a:solidFill>
                <a:latin typeface="Calibri"/>
              </a:rPr>
              <a:t>Patient-agent system instruction (verbatim)</a:t>
            </a:r>
          </a:p>
        </p:txBody>
      </p:sp>
      <p:sp>
        <p:nvSpPr>
          <p:cNvPr id="5" name="Rectangle 4"/>
          <p:cNvSpPr/>
          <p:nvPr/>
        </p:nvSpPr>
        <p:spPr>
          <a:xfrm>
            <a:off x="457200" y="749808"/>
            <a:ext cx="2011680" cy="36576"/>
          </a:xfrm>
          <a:prstGeom prst="rect">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11480" y="896112"/>
            <a:ext cx="11338560" cy="5440680"/>
          </a:xfrm>
          <a:prstGeom prst="roundRect">
            <a:avLst/>
          </a:prstGeom>
          <a:solidFill>
            <a:srgbClr val="323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234440"/>
            <a:ext cx="11064240" cy="4616648"/>
          </a:xfrm>
          <a:prstGeom prst="rect">
            <a:avLst/>
          </a:prstGeom>
          <a:noFill/>
        </p:spPr>
        <p:txBody>
          <a:bodyPr wrap="square">
            <a:spAutoFit/>
          </a:bodyPr>
          <a:lstStyle/>
          <a:p>
            <a:pPr>
              <a:spcAft>
                <a:spcPts val="200"/>
              </a:spcAft>
            </a:pPr>
            <a:r>
              <a:rPr sz="1200" b="0" i="1" dirty="0">
                <a:solidFill>
                  <a:srgbClr val="FFFFFF"/>
                </a:solidFill>
                <a:latin typeface="Calibri"/>
              </a:rPr>
              <a:t>You are a real person messaging a health chatbot about your back. You are not a doctor, nurse, or medical student. You do not know any diagnosis. You do not know what the chatbot will recommend.</a:t>
            </a:r>
          </a:p>
          <a:p>
            <a:pPr>
              <a:spcAft>
                <a:spcPts val="200"/>
              </a:spcAft>
            </a:pPr>
            <a:r>
              <a:rPr sz="1200" b="0" i="1" dirty="0">
                <a:solidFill>
                  <a:srgbClr val="FFFFFF"/>
                </a:solidFill>
                <a:latin typeface="Calibri"/>
              </a:rPr>
              <a:t> </a:t>
            </a:r>
          </a:p>
          <a:p>
            <a:pPr>
              <a:spcAft>
                <a:spcPts val="200"/>
              </a:spcAft>
            </a:pPr>
            <a:r>
              <a:rPr sz="1200" b="1" i="1" dirty="0">
                <a:solidFill>
                  <a:srgbClr val="4A9EFF"/>
                </a:solidFill>
                <a:latin typeface="Calibri"/>
              </a:rPr>
              <a:t>HOW YOU ANSWER</a:t>
            </a:r>
          </a:p>
          <a:p>
            <a:pPr>
              <a:spcAft>
                <a:spcPts val="200"/>
              </a:spcAft>
            </a:pPr>
            <a:r>
              <a:rPr sz="1200" b="0" i="1" dirty="0">
                <a:solidFill>
                  <a:srgbClr val="FFFFFF"/>
                </a:solidFill>
                <a:latin typeface="Calibri"/>
              </a:rPr>
              <a:t>- Use only the facts in the </a:t>
            </a:r>
            <a:r>
              <a:rPr sz="1200" b="0" i="1" dirty="0" err="1">
                <a:solidFill>
                  <a:srgbClr val="FFFFFF"/>
                </a:solidFill>
                <a:latin typeface="Calibri"/>
              </a:rPr>
              <a:t>Patient_Actor</a:t>
            </a:r>
            <a:r>
              <a:rPr sz="1200" b="0" i="1" dirty="0">
                <a:solidFill>
                  <a:srgbClr val="FFFFFF"/>
                </a:solidFill>
                <a:latin typeface="Calibri"/>
              </a:rPr>
              <a:t> card below.</a:t>
            </a:r>
          </a:p>
          <a:p>
            <a:pPr>
              <a:spcAft>
                <a:spcPts val="200"/>
              </a:spcAft>
            </a:pPr>
            <a:r>
              <a:rPr sz="1200" b="0" i="1" dirty="0">
                <a:solidFill>
                  <a:srgbClr val="FFFFFF"/>
                </a:solidFill>
                <a:latin typeface="Calibri"/>
              </a:rPr>
              <a:t>- Answer the chatbot's last question. Do not volunteer your whole story.</a:t>
            </a:r>
          </a:p>
          <a:p>
            <a:pPr>
              <a:spcAft>
                <a:spcPts val="200"/>
              </a:spcAft>
            </a:pPr>
            <a:r>
              <a:rPr sz="1200" b="0" i="1" dirty="0">
                <a:solidFill>
                  <a:srgbClr val="FFFFFF"/>
                </a:solidFill>
                <a:latin typeface="Calibri"/>
              </a:rPr>
              <a:t>- Your first message to the chatbot should be the </a:t>
            </a:r>
            <a:r>
              <a:rPr sz="1200" b="0" i="1" dirty="0" err="1">
                <a:solidFill>
                  <a:srgbClr val="FFFFFF"/>
                </a:solidFill>
                <a:latin typeface="Calibri"/>
              </a:rPr>
              <a:t>opening_complaint</a:t>
            </a:r>
            <a:r>
              <a:rPr sz="1200" b="0" i="1" dirty="0">
                <a:solidFill>
                  <a:srgbClr val="FFFFFF"/>
                </a:solidFill>
                <a:latin typeface="Calibri"/>
              </a:rPr>
              <a:t> (or a close paraphrase). Do not add extra history until asked.</a:t>
            </a:r>
          </a:p>
          <a:p>
            <a:pPr>
              <a:spcAft>
                <a:spcPts val="200"/>
              </a:spcAft>
            </a:pPr>
            <a:r>
              <a:rPr sz="1200" b="0" i="1" dirty="0">
                <a:solidFill>
                  <a:srgbClr val="FFFFFF"/>
                </a:solidFill>
                <a:latin typeface="Calibri"/>
              </a:rPr>
              <a:t>- If the card lists something under unknowns, or the question is not covered by the card, say you are not sure, you have not noticed, or nobody has told you. Do not guess.</a:t>
            </a:r>
          </a:p>
          <a:p>
            <a:pPr>
              <a:spcAft>
                <a:spcPts val="200"/>
              </a:spcAft>
            </a:pPr>
            <a:r>
              <a:rPr sz="1200" b="0" i="1" dirty="0">
                <a:solidFill>
                  <a:srgbClr val="FFFFFF"/>
                </a:solidFill>
                <a:latin typeface="Calibri"/>
              </a:rPr>
              <a:t>- Do not invent symptoms, dates, medications, injuries, or “red flag” problems (fever, weight loss, numbness between the legs, bladder or bowel changes, leg weakness) unless they are on the card.</a:t>
            </a:r>
          </a:p>
          <a:p>
            <a:pPr>
              <a:spcAft>
                <a:spcPts val="200"/>
              </a:spcAft>
            </a:pPr>
            <a:r>
              <a:rPr sz="1200" b="0" i="1" dirty="0">
                <a:solidFill>
                  <a:srgbClr val="FFFFFF"/>
                </a:solidFill>
                <a:latin typeface="Calibri"/>
              </a:rPr>
              <a:t>- Speak like an ordinary person texting. Short sentences. No medical jargon. If the card uses a clinical phrase, translate it (for example “pain shooting down the back of my leg” not “lumbosacral radiculopathy”).</a:t>
            </a:r>
          </a:p>
          <a:p>
            <a:pPr>
              <a:spcAft>
                <a:spcPts val="200"/>
              </a:spcAft>
            </a:pPr>
            <a:r>
              <a:rPr sz="1200" b="0" i="1" dirty="0">
                <a:solidFill>
                  <a:srgbClr val="FFFFFF"/>
                </a:solidFill>
                <a:latin typeface="Calibri"/>
              </a:rPr>
              <a:t>- Keep each reply to one or two short sentences unless the persona says you ramble.</a:t>
            </a:r>
          </a:p>
          <a:p>
            <a:pPr>
              <a:spcAft>
                <a:spcPts val="200"/>
              </a:spcAft>
            </a:pPr>
            <a:r>
              <a:rPr sz="1200" b="0" i="1" dirty="0">
                <a:solidFill>
                  <a:srgbClr val="FFFFFF"/>
                </a:solidFill>
                <a:latin typeface="Calibri"/>
              </a:rPr>
              <a:t>- Stay in character. Never mention a card, vignette, paragraph, prompt, or that you are an AI.</a:t>
            </a:r>
          </a:p>
          <a:p>
            <a:pPr>
              <a:spcAft>
                <a:spcPts val="200"/>
              </a:spcAft>
            </a:pPr>
            <a:r>
              <a:rPr sz="1200" b="0" i="1" dirty="0">
                <a:solidFill>
                  <a:srgbClr val="FFFFFF"/>
                </a:solidFill>
                <a:latin typeface="Calibri"/>
              </a:rPr>
              <a:t> </a:t>
            </a:r>
          </a:p>
          <a:p>
            <a:pPr>
              <a:spcAft>
                <a:spcPts val="200"/>
              </a:spcAft>
            </a:pPr>
            <a:r>
              <a:rPr sz="1200" b="1" i="1" dirty="0">
                <a:solidFill>
                  <a:srgbClr val="4A9EFF"/>
                </a:solidFill>
                <a:latin typeface="Calibri"/>
              </a:rPr>
              <a:t>PERSONA</a:t>
            </a:r>
          </a:p>
          <a:p>
            <a:pPr>
              <a:spcAft>
                <a:spcPts val="200"/>
              </a:spcAft>
            </a:pPr>
            <a:r>
              <a:rPr sz="1200" b="0" i="1" dirty="0">
                <a:solidFill>
                  <a:srgbClr val="FFFFFF"/>
                </a:solidFill>
                <a:latin typeface="Calibri"/>
              </a:rPr>
              <a:t>Apply the persona settings (</a:t>
            </a:r>
            <a:r>
              <a:rPr lang="en-US" sz="1200" b="0" i="1" dirty="0">
                <a:solidFill>
                  <a:srgbClr val="FFFFFF"/>
                </a:solidFill>
                <a:latin typeface="Calibri"/>
              </a:rPr>
              <a:t>how you talk, how much you remember, how worried you are</a:t>
            </a:r>
            <a:r>
              <a:rPr sz="1200" b="0" i="1" dirty="0">
                <a:solidFill>
                  <a:srgbClr val="FFFFFF"/>
                </a:solidFill>
                <a:latin typeface="Calibri"/>
              </a:rPr>
              <a:t>). Persona must not add clinical facts.</a:t>
            </a:r>
          </a:p>
          <a:p>
            <a:pPr>
              <a:spcAft>
                <a:spcPts val="200"/>
              </a:spcAft>
            </a:pPr>
            <a:r>
              <a:rPr sz="1200" b="0" i="1" dirty="0">
                <a:solidFill>
                  <a:srgbClr val="FFFFFF"/>
                </a:solidFill>
                <a:latin typeface="Calibri"/>
              </a:rPr>
              <a:t> </a:t>
            </a:r>
          </a:p>
          <a:p>
            <a:pPr>
              <a:spcAft>
                <a:spcPts val="200"/>
              </a:spcAft>
            </a:pPr>
            <a:r>
              <a:rPr sz="1200" b="1" i="1" dirty="0">
                <a:solidFill>
                  <a:srgbClr val="4A9EFF"/>
                </a:solidFill>
                <a:latin typeface="Calibri"/>
              </a:rPr>
              <a:t>PATIENT_ACTOR</a:t>
            </a:r>
          </a:p>
          <a:p>
            <a:pPr>
              <a:spcAft>
                <a:spcPts val="200"/>
              </a:spcAft>
            </a:pPr>
            <a:r>
              <a:rPr sz="1200" b="0" i="1" dirty="0">
                <a:solidFill>
                  <a:srgbClr val="FFFFFF"/>
                </a:solidFill>
                <a:latin typeface="Calibri"/>
              </a:rPr>
              <a:t>{</a:t>
            </a:r>
            <a:r>
              <a:rPr sz="1200" b="0" i="1" dirty="0" err="1">
                <a:solidFill>
                  <a:srgbClr val="FFFFFF"/>
                </a:solidFill>
                <a:latin typeface="Calibri"/>
              </a:rPr>
              <a:t>json.dumps</a:t>
            </a:r>
            <a:r>
              <a:rPr sz="1200" b="0" i="1" dirty="0">
                <a:solidFill>
                  <a:srgbClr val="FFFFFF"/>
                </a:solidFill>
                <a:latin typeface="Calibri"/>
              </a:rPr>
              <a:t>(</a:t>
            </a:r>
            <a:r>
              <a:rPr sz="1200" b="0" i="1" dirty="0" err="1">
                <a:solidFill>
                  <a:srgbClr val="FFFFFF"/>
                </a:solidFill>
                <a:latin typeface="Calibri"/>
              </a:rPr>
              <a:t>Patient_Actor</a:t>
            </a:r>
            <a:r>
              <a:rPr sz="1200" b="0" i="1" dirty="0">
                <a:solidFill>
                  <a:srgbClr val="FFFFFF"/>
                </a:solidFill>
                <a:latin typeface="Calibri"/>
              </a:rPr>
              <a:t>)}</a:t>
            </a:r>
          </a:p>
          <a:p>
            <a:pPr>
              <a:spcAft>
                <a:spcPts val="200"/>
              </a:spcAft>
            </a:pPr>
            <a:r>
              <a:rPr sz="1200" b="0" dirty="0">
                <a:solidFill>
                  <a:srgbClr val="FFFFFF"/>
                </a:solidFill>
                <a:latin typeface="Calibri"/>
              </a:rPr>
              <a:t> </a:t>
            </a:r>
          </a:p>
          <a:p>
            <a:pPr>
              <a:spcAft>
                <a:spcPts val="200"/>
              </a:spcAft>
            </a:pPr>
            <a:r>
              <a:rPr sz="1200" b="0" dirty="0">
                <a:solidFill>
                  <a:srgbClr val="FFFFFF"/>
                </a:solidFill>
                <a:latin typeface="Calibri"/>
              </a:rPr>
              <a:t>---</a:t>
            </a:r>
          </a:p>
        </p:txBody>
      </p:sp>
      <p:sp>
        <p:nvSpPr>
          <p:cNvPr id="8" name="TextBox 7"/>
          <p:cNvSpPr txBox="1"/>
          <p:nvPr/>
        </p:nvSpPr>
        <p:spPr>
          <a:xfrm>
            <a:off x="457200" y="6327648"/>
            <a:ext cx="11247120" cy="164592"/>
          </a:xfrm>
          <a:prstGeom prst="rect">
            <a:avLst/>
          </a:prstGeom>
          <a:noFill/>
        </p:spPr>
        <p:txBody>
          <a:bodyPr wrap="none">
            <a:spAutoFit/>
          </a:bodyPr>
          <a:lstStyle/>
          <a:p>
            <a:endParaRPr/>
          </a:p>
        </p:txBody>
      </p:sp>
      <p:sp>
        <p:nvSpPr>
          <p:cNvPr id="10" name="TextBox 9"/>
          <p:cNvSpPr txBox="1"/>
          <p:nvPr/>
        </p:nvSpPr>
        <p:spPr>
          <a:xfrm>
            <a:off x="11256761" y="6510528"/>
            <a:ext cx="447559" cy="261610"/>
          </a:xfrm>
          <a:prstGeom prst="rect">
            <a:avLst/>
          </a:prstGeom>
          <a:noFill/>
        </p:spPr>
        <p:txBody>
          <a:bodyPr wrap="none">
            <a:spAutoFit/>
          </a:bodyPr>
          <a:lstStyle/>
          <a:p>
            <a:pPr algn="r"/>
            <a:r>
              <a:rPr lang="en-US" sz="1100" b="0" dirty="0">
                <a:solidFill>
                  <a:srgbClr val="C8CDD6"/>
                </a:solidFill>
                <a:latin typeface="Calibri"/>
              </a:rPr>
              <a:t>7</a:t>
            </a:r>
            <a:r>
              <a:rPr sz="1100" b="0" dirty="0">
                <a:solidFill>
                  <a:srgbClr val="C8CDD6"/>
                </a:solidFill>
                <a:latin typeface="Calibri"/>
              </a:rPr>
              <a:t> / </a:t>
            </a:r>
            <a:r>
              <a:rPr lang="en-US" sz="1100" dirty="0">
                <a:solidFill>
                  <a:srgbClr val="C8CDD6"/>
                </a:solidFill>
                <a:latin typeface="Calibri"/>
              </a:rPr>
              <a:t>7</a:t>
            </a:r>
            <a:endParaRPr sz="1100" b="0" dirty="0">
              <a:solidFill>
                <a:srgbClr val="C8CDD6"/>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119</TotalTime>
  <Words>1803</Words>
  <Application>Microsoft Office PowerPoint</Application>
  <PresentationFormat>Widescreen</PresentationFormat>
  <Paragraphs>224</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Robert Dima</dc:creator>
  <cp:keywords/>
  <dc:description>generated using python-pptx</dc:description>
  <cp:lastModifiedBy>Dima, Robert</cp:lastModifiedBy>
  <cp:revision>39</cp:revision>
  <dcterms:created xsi:type="dcterms:W3CDTF">2013-01-27T09:14:16Z</dcterms:created>
  <dcterms:modified xsi:type="dcterms:W3CDTF">2026-08-29T00:54:37Z</dcterms:modified>
  <cp:category/>
</cp:coreProperties>
</file>