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</a:rPr>
              <a:t>DigiMSK Chatbot — Month 1 Prototype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2C4"/>
                </a:solidFill>
              </a:rPr>
              <a:t>Linear single-turn pipeline with service stubs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49240" y="960120"/>
            <a:ext cx="1371600" cy="41148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51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0B2C4"/>
                </a:solidFill>
              </a:rPr>
              <a:t>ChatRequest (session_id + message)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51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0B2C4"/>
                </a:solidFill>
              </a:rPr>
              <a:t>ChatResponse (response + citations + escalated + safety_reason)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26811" y="1371600"/>
            <a:ext cx="16459" cy="10972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5971032" y="1481328"/>
            <a:ext cx="128016" cy="91440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1572768"/>
            <a:ext cx="9418320" cy="566928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3538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910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2C4"/>
                </a:solidFill>
              </a:rPr>
              <a:t>API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09344"/>
            <a:ext cx="2926080" cy="475488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FastAPI Endpoint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0B2C4"/>
                </a:solidFill>
              </a:rPr>
              <a:t>POST /api/v1/chat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6811" y="2084832"/>
            <a:ext cx="16459" cy="15544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971032" y="2240280"/>
            <a:ext cx="128016" cy="91440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2331720"/>
            <a:ext cx="9418320" cy="324612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3538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33172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2C4"/>
                </a:solidFill>
              </a:rPr>
              <a:t>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5420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07288"/>
                </a:solidFill>
              </a:rPr>
              <a:t>LangGraph Linear Graph — Single Turn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468880"/>
            <a:ext cx="4572000" cy="54864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ingest_input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B0B2C4"/>
                </a:solidFill>
              </a:rPr>
              <a:t>Keyword risk scan (policy.py)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07288"/>
                </a:solidFill>
              </a:rPr>
              <a:t>Matches against: suicide, self-harm, chest pain, numbness, loss of bladder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127248"/>
            <a:ext cx="4572000" cy="54864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retrieve_evidence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B0B2C4"/>
                </a:solidFill>
              </a:rPr>
              <a:t>RAG Service (STUB)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07288"/>
                </a:solidFill>
              </a:rPr>
              <a:t>Returns hardcoded evidence. Future: vector DB retrieval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785616"/>
            <a:ext cx="4572000" cy="54864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generate_draft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B0B2C4"/>
                </a:solidFill>
              </a:rPr>
              <a:t>Generator Service (STUB)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07288"/>
                </a:solidFill>
              </a:rPr>
              <a:t>Returns canned response. Future: Llama-3-8B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443984"/>
            <a:ext cx="4572000" cy="54864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policy_gate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B0B2C4"/>
                </a:solidFill>
              </a:rPr>
              <a:t>Safety Override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07288"/>
                </a:solidFill>
              </a:rPr>
              <a:t>If risk flags present → override draft with escalation message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5102352"/>
            <a:ext cx="4572000" cy="438912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finalize_response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B0B2C4"/>
                </a:solidFill>
              </a:rPr>
              <a:t>Package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52491" y="3017520"/>
            <a:ext cx="16459" cy="1828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5696712" y="3035808"/>
            <a:ext cx="128016" cy="91440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52491" y="3675888"/>
            <a:ext cx="16459" cy="1828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5696712" y="3694176"/>
            <a:ext cx="128016" cy="91440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52491" y="4334256"/>
            <a:ext cx="16459" cy="1828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5696712" y="4352544"/>
            <a:ext cx="128016" cy="91440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52491" y="4992624"/>
            <a:ext cx="16459" cy="1828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5696712" y="5010912"/>
            <a:ext cx="128016" cy="91440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03920" y="3150108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3E5062"/>
          </a:solidFill>
          <a:ln w="12700">
            <a:solidFill>
              <a:srgbClr val="5C6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8DEE"/>
                </a:solidFill>
              </a:rPr>
              <a:t>RAG (STUB)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0B2C4"/>
                </a:solidFill>
              </a:rPr>
              <a:t>Hardcoded evidence — no real
retrieval yet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393339"/>
            <a:ext cx="365760" cy="16459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8412480" y="3337560"/>
            <a:ext cx="91440" cy="128016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0" y="3808476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3E5062"/>
          </a:solidFill>
          <a:ln w="12700">
            <a:solidFill>
              <a:srgbClr val="5C6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8DEE"/>
                </a:solidFill>
              </a:rPr>
              <a:t>GENERATOR (STUB)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0B2C4"/>
                </a:solidFill>
              </a:rPr>
              <a:t>Canned response — no LLM yet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051707"/>
            <a:ext cx="365760" cy="16459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5400000">
            <a:off x="8412480" y="3995928"/>
            <a:ext cx="91440" cy="128016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5669280"/>
            <a:ext cx="11430000" cy="86868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3538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62356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2C4"/>
                </a:solidFill>
              </a:rPr>
              <a:t>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6509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0B2C4"/>
                </a:solidFill>
              </a:rPr>
              <a:t>ChatResponse (response + citations + escalated + safety_reason)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52491" y="5541264"/>
            <a:ext cx="16459" cy="10972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5696712" y="5650992"/>
            <a:ext cx="128016" cy="91440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5943600"/>
            <a:ext cx="2926080" cy="438912"/>
          </a:xfrm>
          <a:prstGeom prst="roundRect">
            <a:avLst>
              <a:gd name="adj" fmla="val 6000"/>
            </a:avLst>
          </a:prstGeom>
          <a:solidFill>
            <a:srgbClr val="222434"/>
          </a:solidFill>
          <a:ln w="12700">
            <a:solidFill>
              <a:srgbClr val="3A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D04444"/>
                </a:solidFill>
              </a:rPr>
              <a:t>✕ </a:t>
            </a:r>
            <a:r>
              <a:rPr sz="900" b="0" i="0">
                <a:solidFill>
                  <a:srgbClr val="B0B2C4"/>
                </a:solidFill>
              </a:rPr>
              <a:t>ENCODER — Not implemented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49039" y="5943600"/>
            <a:ext cx="3291840" cy="438912"/>
          </a:xfrm>
          <a:prstGeom prst="roundRect">
            <a:avLst>
              <a:gd name="adj" fmla="val 6000"/>
            </a:avLst>
          </a:prstGeom>
          <a:solidFill>
            <a:srgbClr val="222434"/>
          </a:solidFill>
          <a:ln w="12700">
            <a:solidFill>
              <a:srgbClr val="3A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D04444"/>
                </a:solidFill>
              </a:rPr>
              <a:t>✕ </a:t>
            </a:r>
            <a:r>
              <a:rPr sz="900" b="0" i="0">
                <a:solidFill>
                  <a:srgbClr val="B0B2C4"/>
                </a:solidFill>
              </a:rPr>
              <a:t>SYNTHESIZER — Not implemented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5943600"/>
            <a:ext cx="4297680" cy="438912"/>
          </a:xfrm>
          <a:prstGeom prst="roundRect">
            <a:avLst>
              <a:gd name="adj" fmla="val 6000"/>
            </a:avLst>
          </a:prstGeom>
          <a:solidFill>
            <a:srgbClr val="222434"/>
          </a:solidFill>
          <a:ln w="12700">
            <a:solidFill>
              <a:srgbClr val="3A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B0B2C4"/>
                </a:solidFill>
              </a:rPr>
              <a:t>Conversation History — Not implemented
(single-turn only)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288"/>
                </a:solidFill>
              </a:rPr>
              <a:t>Ardern Lab, UBC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