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</a:rPr>
              <a:t>DigiMSK Chatbot — Multi-Turn Conversational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B0B2C4"/>
                </a:solidFill>
              </a:rPr>
              <a:t>Looping pipeline with session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49240" y="960120"/>
            <a:ext cx="1371600" cy="411480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👤 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0515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0B2C4"/>
                </a:solidFill>
              </a:rPr>
              <a:t>ChatRequest (session_id + message)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0515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0B2C4"/>
                </a:solidFill>
              </a:rPr>
              <a:t>ChatResponse (response + citations + escalated + safety_reason)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26811" y="1371600"/>
            <a:ext cx="16459" cy="128016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sosceles Triangle 7"/>
          <p:cNvSpPr/>
          <p:nvPr/>
        </p:nvSpPr>
        <p:spPr>
          <a:xfrm rot="10800000">
            <a:off x="5980176" y="1499616"/>
            <a:ext cx="109728" cy="73152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71600" y="1572768"/>
            <a:ext cx="9418320" cy="566928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35384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5910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B0B2C4"/>
                </a:solidFill>
              </a:rPr>
              <a:t>API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09344"/>
            <a:ext cx="2926080" cy="475488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FFFFFF"/>
                </a:solidFill>
              </a:rPr>
              <a:t>FastAPI</a:t>
            </a:r>
            <a:r>
              <a:rPr sz="1100" b="1" i="0" dirty="0">
                <a:solidFill>
                  <a:srgbClr val="FFFFFF"/>
                </a:solidFill>
              </a:rPr>
              <a:t> Endpoint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B0B2C4"/>
                </a:solidFill>
              </a:rPr>
              <a:t>POST /</a:t>
            </a:r>
            <a:r>
              <a:rPr sz="900" b="0" i="0" dirty="0" err="1">
                <a:solidFill>
                  <a:srgbClr val="B0B2C4"/>
                </a:solidFill>
              </a:rPr>
              <a:t>api</a:t>
            </a:r>
            <a:r>
              <a:rPr sz="900" b="0" i="0" dirty="0">
                <a:solidFill>
                  <a:srgbClr val="B0B2C4"/>
                </a:solidFill>
              </a:rPr>
              <a:t>/v1/chat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26811" y="2084832"/>
            <a:ext cx="16459" cy="54864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980176" y="2139696"/>
            <a:ext cx="109728" cy="73152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97280" y="2212848"/>
            <a:ext cx="9875520" cy="338328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35384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221284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2C4"/>
                </a:solidFill>
              </a:rPr>
              <a:t>ORCHESTRATOR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2331720"/>
            <a:ext cx="4206240" cy="365760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load_history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0B2C4"/>
                </a:solidFill>
              </a:rPr>
              <a:t>Session Store Read (history.py)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07288"/>
                </a:solidFill>
              </a:rPr>
              <a:t>Retrieve prior turns + state from session-keyed 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2788920"/>
            <a:ext cx="4206240" cy="365760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ingest_input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0B2C4"/>
                </a:solidFill>
              </a:rPr>
              <a:t>Keyword risk scan (policy.py)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07288"/>
                </a:solidFill>
              </a:rPr>
              <a:t>Risk keywords evaluated with conversation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3246120"/>
            <a:ext cx="4206240" cy="365760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retrieve_evidence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0B2C4"/>
                </a:solidFill>
              </a:rPr>
              <a:t>RAG Service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07288"/>
                </a:solidFill>
              </a:rPr>
              <a:t>Vector DB retrieval with query reformulation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3703320"/>
            <a:ext cx="4206240" cy="365760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FFFFFF"/>
                </a:solidFill>
              </a:rPr>
              <a:t>generate_draft</a:t>
            </a:r>
            <a:endParaRPr sz="1000" b="1" i="0" dirty="0">
              <a:solidFill>
                <a:srgbClr val="FFFFFF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 dirty="0">
                <a:solidFill>
                  <a:srgbClr val="B0B2C4"/>
                </a:solidFill>
              </a:rPr>
              <a:t>Generator Service </a:t>
            </a:r>
            <a:endParaRPr lang="en-US" sz="800" i="1" dirty="0">
              <a:solidFill>
                <a:srgbClr val="B0B2C4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 dirty="0">
                <a:solidFill>
                  <a:srgbClr val="707288"/>
                </a:solidFill>
              </a:rPr>
              <a:t>Context-aware response using conversation history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160520"/>
            <a:ext cx="4206240" cy="365760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policy_gate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0B2C4"/>
                </a:solidFill>
              </a:rPr>
              <a:t>Safety Override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07288"/>
                </a:solidFill>
              </a:rPr>
              <a:t>Risk flags from current + prior turns → escalation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4617720"/>
            <a:ext cx="4206240" cy="274320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finalize_response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0B2C4"/>
                </a:solidFill>
              </a:rPr>
              <a:t>Package output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5074920"/>
            <a:ext cx="4206240" cy="365760"/>
          </a:xfrm>
          <a:prstGeom prst="roundRect">
            <a:avLst>
              <a:gd name="adj" fmla="val 6000"/>
            </a:avLst>
          </a:prstGeom>
          <a:solidFill>
            <a:srgbClr val="282A3C"/>
          </a:solidFill>
          <a:ln w="12700">
            <a:solidFill>
              <a:srgbClr val="4A4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save_turn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0B2C4"/>
                </a:solidFill>
              </a:rPr>
              <a:t>Session Store Write (history.py)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07288"/>
                </a:solidFill>
              </a:rPr>
              <a:t>Persist turn + updated state to session 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35371" y="2697480"/>
            <a:ext cx="16459" cy="36576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5897880" y="2734056"/>
            <a:ext cx="91440" cy="54864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35371" y="3154680"/>
            <a:ext cx="16459" cy="36576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5897880" y="3191256"/>
            <a:ext cx="91440" cy="54864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35371" y="3611880"/>
            <a:ext cx="16459" cy="36576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5897880" y="3648456"/>
            <a:ext cx="91440" cy="54864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35371" y="4069080"/>
            <a:ext cx="16459" cy="36576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sosceles Triangle 30"/>
          <p:cNvSpPr/>
          <p:nvPr/>
        </p:nvSpPr>
        <p:spPr>
          <a:xfrm rot="10800000">
            <a:off x="5897880" y="4105656"/>
            <a:ext cx="91440" cy="54864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35371" y="4526280"/>
            <a:ext cx="16459" cy="36576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32"/>
          <p:cNvSpPr/>
          <p:nvPr/>
        </p:nvSpPr>
        <p:spPr>
          <a:xfrm rot="10800000">
            <a:off x="5897880" y="4562856"/>
            <a:ext cx="91440" cy="54864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35371" y="4892040"/>
            <a:ext cx="16459" cy="128016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5897880" y="5020056"/>
            <a:ext cx="91440" cy="54864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371600" y="2331720"/>
            <a:ext cx="2011680" cy="3108960"/>
          </a:xfrm>
          <a:prstGeom prst="roundRect">
            <a:avLst>
              <a:gd name="adj" fmla="val 3000"/>
            </a:avLst>
          </a:prstGeom>
          <a:solidFill>
            <a:srgbClr val="2A3A4E"/>
          </a:solidFill>
          <a:ln w="19050">
            <a:solidFill>
              <a:srgbClr val="4E6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5B8DEE"/>
                </a:solidFill>
              </a:rPr>
              <a:t>SESSION STORE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B0B2C4"/>
                </a:solidFill>
              </a:rPr>
              <a:t>I</a:t>
            </a:r>
            <a:r>
              <a:rPr sz="800" b="0" i="0" dirty="0">
                <a:solidFill>
                  <a:srgbClr val="B0B2C4"/>
                </a:solidFill>
              </a:rPr>
              <a:t>n-memory </a:t>
            </a:r>
            <a:r>
              <a:rPr sz="800" b="0" i="0" dirty="0" err="1">
                <a:solidFill>
                  <a:srgbClr val="B0B2C4"/>
                </a:solidFill>
              </a:rPr>
              <a:t>dict</a:t>
            </a:r>
            <a:endParaRPr sz="800" b="0" i="0" dirty="0">
              <a:solidFill>
                <a:srgbClr val="B0B2C4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 dirty="0">
                <a:solidFill>
                  <a:srgbClr val="707288"/>
                </a:solidFill>
              </a:rPr>
              <a:t>Session-keyed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 dirty="0">
                <a:solidFill>
                  <a:srgbClr val="707288"/>
                </a:solidFill>
              </a:rPr>
              <a:t>conversation state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750" b="0" i="0" dirty="0">
              <a:solidFill>
                <a:srgbClr val="707288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5B8DEE"/>
                </a:solidFill>
              </a:rPr>
              <a:t>↻  next turn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2506371"/>
            <a:ext cx="365760" cy="16459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Isosceles Triangle 37"/>
          <p:cNvSpPr/>
          <p:nvPr/>
        </p:nvSpPr>
        <p:spPr>
          <a:xfrm rot="5400000">
            <a:off x="3749040" y="2450592"/>
            <a:ext cx="91440" cy="128016"/>
          </a:xfrm>
          <a:prstGeom prst="triangle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474720" y="5249571"/>
            <a:ext cx="365760" cy="16459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Isosceles Triangle 39"/>
          <p:cNvSpPr/>
          <p:nvPr/>
        </p:nvSpPr>
        <p:spPr>
          <a:xfrm rot="16200000">
            <a:off x="3383280" y="5193792"/>
            <a:ext cx="91440" cy="128016"/>
          </a:xfrm>
          <a:prstGeom prst="triangle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01568" y="229514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707288"/>
                </a:solidFill>
              </a:rPr>
              <a:t>read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1568" y="529437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707288"/>
                </a:solidFill>
              </a:rPr>
              <a:t>write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34771" y="2587752"/>
            <a:ext cx="16459" cy="2670048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Isosceles Triangle 43"/>
          <p:cNvSpPr/>
          <p:nvPr/>
        </p:nvSpPr>
        <p:spPr>
          <a:xfrm>
            <a:off x="1088136" y="2514600"/>
            <a:ext cx="109728" cy="73152"/>
          </a:xfrm>
          <a:prstGeom prst="triangle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503920" y="3191256"/>
            <a:ext cx="2560320" cy="475488"/>
          </a:xfrm>
          <a:prstGeom prst="roundRect">
            <a:avLst>
              <a:gd name="adj" fmla="val 6000"/>
            </a:avLst>
          </a:prstGeom>
          <a:solidFill>
            <a:srgbClr val="3E5062"/>
          </a:solidFill>
          <a:ln w="12700">
            <a:solidFill>
              <a:srgbClr val="5C6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5B8DEE"/>
                </a:solidFill>
              </a:rPr>
              <a:t>RAG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b="0" i="0" dirty="0">
                <a:solidFill>
                  <a:srgbClr val="B0B2C4"/>
                </a:solidFill>
              </a:rPr>
              <a:t>SQL </a:t>
            </a:r>
            <a:r>
              <a:rPr sz="750" b="0" i="0" dirty="0">
                <a:solidFill>
                  <a:srgbClr val="B0B2C4"/>
                </a:solidFill>
              </a:rPr>
              <a:t>Vector DB retrieval — FAISS / </a:t>
            </a:r>
            <a:r>
              <a:rPr sz="750" b="0" i="0" dirty="0" err="1">
                <a:solidFill>
                  <a:srgbClr val="B0B2C4"/>
                </a:solidFill>
              </a:rPr>
              <a:t>pgvector</a:t>
            </a:r>
            <a:endParaRPr sz="750" b="0" i="0" dirty="0">
              <a:solidFill>
                <a:srgbClr val="B0B2C4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046720" y="3420771"/>
            <a:ext cx="365760" cy="16459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Isosceles Triangle 47"/>
          <p:cNvSpPr/>
          <p:nvPr/>
        </p:nvSpPr>
        <p:spPr>
          <a:xfrm rot="5400000">
            <a:off x="8412480" y="3364992"/>
            <a:ext cx="91440" cy="128016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503920" y="3648456"/>
            <a:ext cx="2560320" cy="475488"/>
          </a:xfrm>
          <a:prstGeom prst="roundRect">
            <a:avLst>
              <a:gd name="adj" fmla="val 6000"/>
            </a:avLst>
          </a:prstGeom>
          <a:solidFill>
            <a:srgbClr val="3E5062"/>
          </a:solidFill>
          <a:ln w="12700">
            <a:solidFill>
              <a:srgbClr val="5C6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5B8DEE"/>
                </a:solidFill>
              </a:rPr>
              <a:t>GENERATOR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b="0" i="0" dirty="0">
                <a:solidFill>
                  <a:srgbClr val="B0B2C4"/>
                </a:solidFill>
              </a:rPr>
              <a:t>I</a:t>
            </a:r>
            <a:r>
              <a:rPr sz="750" b="0" i="0" dirty="0">
                <a:solidFill>
                  <a:srgbClr val="B0B2C4"/>
                </a:solidFill>
              </a:rPr>
              <a:t>nstruct</a:t>
            </a:r>
            <a:r>
              <a:rPr lang="en-US" sz="750" b="0" i="0" dirty="0">
                <a:solidFill>
                  <a:srgbClr val="B0B2C4"/>
                </a:solidFill>
              </a:rPr>
              <a:t> model</a:t>
            </a:r>
            <a:r>
              <a:rPr sz="750" b="0" i="0" dirty="0">
                <a:solidFill>
                  <a:srgbClr val="B0B2C4"/>
                </a:solidFill>
              </a:rPr>
              <a:t> with DPO fine-tuning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3877971"/>
            <a:ext cx="365760" cy="16459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Isosceles Triangle 50"/>
          <p:cNvSpPr/>
          <p:nvPr/>
        </p:nvSpPr>
        <p:spPr>
          <a:xfrm rot="5400000">
            <a:off x="8412480" y="3822192"/>
            <a:ext cx="91440" cy="128016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365760" y="5687568"/>
            <a:ext cx="11430000" cy="804672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35384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4320" y="565099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2C4"/>
                </a:solidFill>
              </a:rPr>
              <a:t>RESPONSE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566928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B0B2C4"/>
                </a:solidFill>
              </a:rPr>
              <a:t>ChatResponse (response + citations + escalated + safety_reason)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35371" y="5440680"/>
            <a:ext cx="16459" cy="246888"/>
          </a:xfrm>
          <a:prstGeom prst="rect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Isosceles Triangle 55"/>
          <p:cNvSpPr/>
          <p:nvPr/>
        </p:nvSpPr>
        <p:spPr>
          <a:xfrm rot="10800000">
            <a:off x="5888736" y="5687568"/>
            <a:ext cx="109728" cy="73152"/>
          </a:xfrm>
          <a:prstGeom prst="triangle">
            <a:avLst/>
          </a:prstGeom>
          <a:solidFill>
            <a:srgbClr val="8A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548640" y="5943600"/>
            <a:ext cx="2926080" cy="411480"/>
          </a:xfrm>
          <a:prstGeom prst="roundRect">
            <a:avLst>
              <a:gd name="adj" fmla="val 6000"/>
            </a:avLst>
          </a:prstGeom>
          <a:solidFill>
            <a:srgbClr val="222434"/>
          </a:solidFill>
          <a:ln w="12700">
            <a:solidFill>
              <a:srgbClr val="3A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D04444"/>
                </a:solidFill>
              </a:rPr>
              <a:t>✕ </a:t>
            </a:r>
            <a:r>
              <a:rPr sz="900" b="0" i="0">
                <a:solidFill>
                  <a:srgbClr val="B0B2C4"/>
                </a:solidFill>
              </a:rPr>
              <a:t>ENCODER — Not implemented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49039" y="5943600"/>
            <a:ext cx="3291840" cy="411480"/>
          </a:xfrm>
          <a:prstGeom prst="roundRect">
            <a:avLst>
              <a:gd name="adj" fmla="val 6000"/>
            </a:avLst>
          </a:prstGeom>
          <a:solidFill>
            <a:srgbClr val="222434"/>
          </a:solidFill>
          <a:ln w="12700">
            <a:solidFill>
              <a:srgbClr val="3A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D04444"/>
                </a:solidFill>
              </a:rPr>
              <a:t>✕ </a:t>
            </a:r>
            <a:r>
              <a:rPr sz="900" b="0" i="0">
                <a:solidFill>
                  <a:srgbClr val="B0B2C4"/>
                </a:solidFill>
              </a:rPr>
              <a:t>SYNTHESIZER — Not implemented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0" y="5943600"/>
            <a:ext cx="4297680" cy="411480"/>
          </a:xfrm>
          <a:prstGeom prst="roundRect">
            <a:avLst>
              <a:gd name="adj" fmla="val 6000"/>
            </a:avLst>
          </a:prstGeom>
          <a:solidFill>
            <a:srgbClr val="1E3028"/>
          </a:solidFill>
          <a:ln w="12700">
            <a:solidFill>
              <a:srgbClr val="3A5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40B040"/>
                </a:solidFill>
              </a:rPr>
              <a:t>✓ </a:t>
            </a:r>
            <a:r>
              <a:rPr sz="900" b="0" i="0">
                <a:solidFill>
                  <a:srgbClr val="B0B2C4"/>
                </a:solidFill>
              </a:rPr>
              <a:t>Conversation History — Implemented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198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 Dima</cp:lastModifiedBy>
  <cp:revision>2</cp:revision>
  <dcterms:created xsi:type="dcterms:W3CDTF">2013-01-27T09:14:16Z</dcterms:created>
  <dcterms:modified xsi:type="dcterms:W3CDTF">2026-04-09T06:25:54Z</dcterms:modified>
  <cp:category/>
</cp:coreProperties>
</file>